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758" autoAdjust="0"/>
  </p:normalViewPr>
  <p:slideViewPr>
    <p:cSldViewPr snapToGrid="0">
      <p:cViewPr>
        <p:scale>
          <a:sx n="50" d="100"/>
          <a:sy n="50" d="100"/>
        </p:scale>
        <p:origin x="-13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D385FB-1039-4413-93D9-DDC93B6CB9F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F6F6F277-F786-4047-AD32-E6192A32C5D9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n-ZA" b="1" dirty="0">
              <a:latin typeface="Times New Roman" panose="02020603050405020304" pitchFamily="18" charset="0"/>
              <a:cs typeface="Times New Roman" panose="02020603050405020304" pitchFamily="18" charset="0"/>
            </a:rPr>
            <a:t>. Elimination of duplicates</a:t>
          </a:r>
        </a:p>
      </dgm:t>
    </dgm:pt>
    <dgm:pt modelId="{02CFBF88-69A7-43E1-99F4-DE092D6456E4}" type="parTrans" cxnId="{55A1B6B8-37B4-4871-95D4-7F967919CEC7}">
      <dgm:prSet/>
      <dgm:spPr/>
      <dgm:t>
        <a:bodyPr/>
        <a:lstStyle/>
        <a:p>
          <a:endParaRPr lang="en-ZA"/>
        </a:p>
      </dgm:t>
    </dgm:pt>
    <dgm:pt modelId="{03F79CAF-FC60-426C-B754-27ACC942D54D}" type="sibTrans" cxnId="{55A1B6B8-37B4-4871-95D4-7F967919CEC7}">
      <dgm:prSet/>
      <dgm:spPr/>
      <dgm:t>
        <a:bodyPr/>
        <a:lstStyle/>
        <a:p>
          <a:endParaRPr lang="en-ZA"/>
        </a:p>
      </dgm:t>
    </dgm:pt>
    <dgm:pt modelId="{4BC38F52-88DA-4DA3-8879-1B6E5F1CD07D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Identical entries were recognized and eliminated</a:t>
          </a:r>
        </a:p>
      </dgm:t>
    </dgm:pt>
    <dgm:pt modelId="{61A08834-E0B0-486F-8E8C-C0D33BDA4C36}" type="parTrans" cxnId="{97A52261-8290-4EDD-A00E-97B00FADA09D}">
      <dgm:prSet/>
      <dgm:spPr/>
      <dgm:t>
        <a:bodyPr/>
        <a:lstStyle/>
        <a:p>
          <a:endParaRPr lang="en-ZA"/>
        </a:p>
      </dgm:t>
    </dgm:pt>
    <dgm:pt modelId="{CEAB76CA-1ED4-46BE-A437-112C23ED38F1}" type="sibTrans" cxnId="{97A52261-8290-4EDD-A00E-97B00FADA09D}">
      <dgm:prSet/>
      <dgm:spPr/>
      <dgm:t>
        <a:bodyPr/>
        <a:lstStyle/>
        <a:p>
          <a:endParaRPr lang="en-ZA"/>
        </a:p>
      </dgm:t>
    </dgm:pt>
    <dgm:pt modelId="{BAE7ADB0-1B43-4A7E-959C-9A80925A8BC1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ZA" b="1" dirty="0">
              <a:latin typeface="Times New Roman" panose="02020603050405020304" pitchFamily="18" charset="0"/>
              <a:cs typeface="Times New Roman" panose="02020603050405020304" pitchFamily="18" charset="0"/>
            </a:rPr>
            <a:t>Handling missing values</a:t>
          </a:r>
        </a:p>
      </dgm:t>
    </dgm:pt>
    <dgm:pt modelId="{2DCCE13B-605D-4699-8251-BD1C98E89E50}" type="parTrans" cxnId="{0BE4AF6C-8F53-4A1C-B458-CD2FFAB0D403}">
      <dgm:prSet/>
      <dgm:spPr/>
      <dgm:t>
        <a:bodyPr/>
        <a:lstStyle/>
        <a:p>
          <a:endParaRPr lang="en-ZA"/>
        </a:p>
      </dgm:t>
    </dgm:pt>
    <dgm:pt modelId="{E3637FE3-ADC9-484A-B338-213D32BA015F}" type="sibTrans" cxnId="{0BE4AF6C-8F53-4A1C-B458-CD2FFAB0D403}">
      <dgm:prSet/>
      <dgm:spPr/>
      <dgm:t>
        <a:bodyPr/>
        <a:lstStyle/>
        <a:p>
          <a:endParaRPr lang="en-ZA"/>
        </a:p>
      </dgm:t>
    </dgm:pt>
    <dgm:pt modelId="{80D9AE3D-1199-4C2C-B686-70FBF1AB9139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Numerical variables -&gt; imputation with median</a:t>
          </a:r>
        </a:p>
      </dgm:t>
    </dgm:pt>
    <dgm:pt modelId="{0C0164A0-6C93-4AF3-9E62-8AC01047CD5E}" type="parTrans" cxnId="{ADAFA72F-CAE2-43C0-8969-5FF001C5435A}">
      <dgm:prSet/>
      <dgm:spPr/>
      <dgm:t>
        <a:bodyPr/>
        <a:lstStyle/>
        <a:p>
          <a:endParaRPr lang="en-ZA"/>
        </a:p>
      </dgm:t>
    </dgm:pt>
    <dgm:pt modelId="{4E6846C7-2BA1-44DD-8005-73E639910035}" type="sibTrans" cxnId="{ADAFA72F-CAE2-43C0-8969-5FF001C5435A}">
      <dgm:prSet/>
      <dgm:spPr/>
      <dgm:t>
        <a:bodyPr/>
        <a:lstStyle/>
        <a:p>
          <a:endParaRPr lang="en-ZA"/>
        </a:p>
      </dgm:t>
    </dgm:pt>
    <dgm:pt modelId="{0EA66DEA-EC2F-4BDA-865F-B70631B33A9B}">
      <dgm:prSet phldrT="[Text]" phldr="0"/>
      <dgm:spPr/>
      <dgm:t>
        <a:bodyPr/>
        <a:lstStyle/>
        <a:p>
          <a:r>
            <a:rPr lang="en-ZA" b="1" dirty="0">
              <a:latin typeface="Times New Roman" panose="02020603050405020304" pitchFamily="18" charset="0"/>
              <a:cs typeface="Times New Roman" panose="02020603050405020304" pitchFamily="18" charset="0"/>
            </a:rPr>
            <a:t>3. Outlier management</a:t>
          </a:r>
        </a:p>
      </dgm:t>
    </dgm:pt>
    <dgm:pt modelId="{5E9DBD0C-5ECA-4176-BFAC-965307223DA9}" type="parTrans" cxnId="{592DADB8-B050-4121-9615-F9B87E13EBE7}">
      <dgm:prSet/>
      <dgm:spPr/>
      <dgm:t>
        <a:bodyPr/>
        <a:lstStyle/>
        <a:p>
          <a:endParaRPr lang="en-ZA"/>
        </a:p>
      </dgm:t>
    </dgm:pt>
    <dgm:pt modelId="{7AC81A5F-43BA-4DE3-B85E-17B45802D305}" type="sibTrans" cxnId="{592DADB8-B050-4121-9615-F9B87E13EBE7}">
      <dgm:prSet/>
      <dgm:spPr/>
      <dgm:t>
        <a:bodyPr/>
        <a:lstStyle/>
        <a:p>
          <a:endParaRPr lang="en-ZA"/>
        </a:p>
      </dgm:t>
    </dgm:pt>
    <dgm:pt modelId="{79E1CCD4-7F59-41AD-8DF4-7B59E84FE9CA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Possible numerical outliers were addressed through IQR based trimming</a:t>
          </a:r>
        </a:p>
      </dgm:t>
    </dgm:pt>
    <dgm:pt modelId="{D5513B52-2232-4AEC-811F-5BE9D0CC0E78}" type="parTrans" cxnId="{311284A1-B7F2-47FC-8EE7-F598EA5E9B4E}">
      <dgm:prSet/>
      <dgm:spPr/>
      <dgm:t>
        <a:bodyPr/>
        <a:lstStyle/>
        <a:p>
          <a:endParaRPr lang="en-ZA"/>
        </a:p>
      </dgm:t>
    </dgm:pt>
    <dgm:pt modelId="{E9E6F334-1799-4F9A-9330-D9903D6B8F75}" type="sibTrans" cxnId="{311284A1-B7F2-47FC-8EE7-F598EA5E9B4E}">
      <dgm:prSet/>
      <dgm:spPr/>
      <dgm:t>
        <a:bodyPr/>
        <a:lstStyle/>
        <a:p>
          <a:endParaRPr lang="en-ZA"/>
        </a:p>
      </dgm:t>
    </dgm:pt>
    <dgm:pt modelId="{302BDC54-A305-4FCD-A66B-653B5486B5DC}">
      <dgm:prSet phldrT="[Text]" phldr="0"/>
      <dgm:spPr/>
      <dgm:t>
        <a:bodyPr/>
        <a:lstStyle/>
        <a:p>
          <a:r>
            <a:rPr lang="en-ZA" b="1" dirty="0">
              <a:latin typeface="Times New Roman" panose="02020603050405020304" pitchFamily="18" charset="0"/>
              <a:cs typeface="Times New Roman" panose="02020603050405020304" pitchFamily="18" charset="0"/>
            </a:rPr>
            <a:t>4. Encoding categories</a:t>
          </a:r>
        </a:p>
      </dgm:t>
    </dgm:pt>
    <dgm:pt modelId="{6EF19898-0D42-4729-9A08-4BF55BEFCD44}" type="parTrans" cxnId="{A16C5341-C546-4346-B581-B5DD82FEA313}">
      <dgm:prSet/>
      <dgm:spPr/>
      <dgm:t>
        <a:bodyPr/>
        <a:lstStyle/>
        <a:p>
          <a:endParaRPr lang="en-ZA"/>
        </a:p>
      </dgm:t>
    </dgm:pt>
    <dgm:pt modelId="{1210A82E-0D4A-4D15-8C99-70E5F27277B0}" type="sibTrans" cxnId="{A16C5341-C546-4346-B581-B5DD82FEA313}">
      <dgm:prSet/>
      <dgm:spPr/>
      <dgm:t>
        <a:bodyPr/>
        <a:lstStyle/>
        <a:p>
          <a:endParaRPr lang="en-ZA"/>
        </a:p>
      </dgm:t>
    </dgm:pt>
    <dgm:pt modelId="{0C877845-C766-420E-B46A-11D5CC7BB1B7}">
      <dgm:prSet phldrT="[Text]" phldr="0"/>
      <dgm:spPr/>
      <dgm:t>
        <a:bodyPr/>
        <a:lstStyle/>
        <a:p>
          <a:r>
            <a:rPr lang="en-ZA" b="1" dirty="0">
              <a:latin typeface="Times New Roman" panose="02020603050405020304" pitchFamily="18" charset="0"/>
              <a:cs typeface="Times New Roman" panose="02020603050405020304" pitchFamily="18" charset="0"/>
            </a:rPr>
            <a:t>5. Scaling features</a:t>
          </a:r>
        </a:p>
      </dgm:t>
    </dgm:pt>
    <dgm:pt modelId="{28147DCB-80FC-4CFC-9BE5-9193D2FC8AAB}" type="parTrans" cxnId="{E801B844-43C6-4386-9053-34E3B3BE83FD}">
      <dgm:prSet/>
      <dgm:spPr/>
      <dgm:t>
        <a:bodyPr/>
        <a:lstStyle/>
        <a:p>
          <a:endParaRPr lang="en-ZA"/>
        </a:p>
      </dgm:t>
    </dgm:pt>
    <dgm:pt modelId="{CC96870A-6196-4346-BD1A-12060A42B6C9}" type="sibTrans" cxnId="{E801B844-43C6-4386-9053-34E3B3BE83FD}">
      <dgm:prSet/>
      <dgm:spPr/>
      <dgm:t>
        <a:bodyPr/>
        <a:lstStyle/>
        <a:p>
          <a:endParaRPr lang="en-ZA"/>
        </a:p>
      </dgm:t>
    </dgm:pt>
    <dgm:pt modelId="{B4F34122-3444-408E-BB43-6999C2B3F568}">
      <dgm:prSet phldrT="[Text]" phldr="0"/>
      <dgm:spPr/>
      <dgm:t>
        <a:bodyPr/>
        <a:lstStyle/>
        <a:p>
          <a:r>
            <a:rPr lang="en-ZA" b="1" dirty="0">
              <a:latin typeface="Times New Roman" panose="02020603050405020304" pitchFamily="18" charset="0"/>
              <a:cs typeface="Times New Roman" panose="02020603050405020304" pitchFamily="18" charset="0"/>
            </a:rPr>
            <a:t>6. Divide into training and testing sets</a:t>
          </a:r>
        </a:p>
      </dgm:t>
    </dgm:pt>
    <dgm:pt modelId="{6CCFCD66-5766-4909-A75E-5E9F7CEDB048}" type="parTrans" cxnId="{53A9B7CA-DB80-4AC8-84DB-7C280BE76762}">
      <dgm:prSet/>
      <dgm:spPr/>
      <dgm:t>
        <a:bodyPr/>
        <a:lstStyle/>
        <a:p>
          <a:endParaRPr lang="en-ZA"/>
        </a:p>
      </dgm:t>
    </dgm:pt>
    <dgm:pt modelId="{BD0E4793-F90B-4FA9-BCCA-EC92C17C159E}" type="sibTrans" cxnId="{53A9B7CA-DB80-4AC8-84DB-7C280BE76762}">
      <dgm:prSet/>
      <dgm:spPr/>
      <dgm:t>
        <a:bodyPr/>
        <a:lstStyle/>
        <a:p>
          <a:endParaRPr lang="en-ZA"/>
        </a:p>
      </dgm:t>
    </dgm:pt>
    <dgm:pt modelId="{3CACB5D7-AB21-4B33-BAFB-10692A0999CA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variables were transformed through one-hot encoding</a:t>
          </a:r>
        </a:p>
      </dgm:t>
    </dgm:pt>
    <dgm:pt modelId="{ED6C2ED6-4816-465E-8E08-BC1C54CC408E}" type="parTrans" cxnId="{13F4DAC5-824C-476D-8B92-C26CCCB48EC4}">
      <dgm:prSet/>
      <dgm:spPr/>
      <dgm:t>
        <a:bodyPr/>
        <a:lstStyle/>
        <a:p>
          <a:endParaRPr lang="en-ZA"/>
        </a:p>
      </dgm:t>
    </dgm:pt>
    <dgm:pt modelId="{201DFAF6-6CF3-470B-9D5C-154916EA31F3}" type="sibTrans" cxnId="{13F4DAC5-824C-476D-8B92-C26CCCB48EC4}">
      <dgm:prSet/>
      <dgm:spPr/>
      <dgm:t>
        <a:bodyPr/>
        <a:lstStyle/>
        <a:p>
          <a:endParaRPr lang="en-ZA"/>
        </a:p>
      </dgm:t>
    </dgm:pt>
    <dgm:pt modelId="{9A7660D8-4F68-42E5-88E5-E856663E4993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Numerical features were normalized utilizing standard scaler</a:t>
          </a:r>
        </a:p>
      </dgm:t>
    </dgm:pt>
    <dgm:pt modelId="{CC339CF5-5AE1-4C18-9A2A-91874FBFA19E}" type="parTrans" cxnId="{808F8FCF-7739-43FB-AE62-D5E24ADF5919}">
      <dgm:prSet/>
      <dgm:spPr/>
      <dgm:t>
        <a:bodyPr/>
        <a:lstStyle/>
        <a:p>
          <a:endParaRPr lang="en-ZA"/>
        </a:p>
      </dgm:t>
    </dgm:pt>
    <dgm:pt modelId="{BB89846B-604B-47A2-A67E-F7656F533A20}" type="sibTrans" cxnId="{808F8FCF-7739-43FB-AE62-D5E24ADF5919}">
      <dgm:prSet/>
      <dgm:spPr/>
      <dgm:t>
        <a:bodyPr/>
        <a:lstStyle/>
        <a:p>
          <a:endParaRPr lang="en-ZA"/>
        </a:p>
      </dgm:t>
    </dgm:pt>
    <dgm:pt modelId="{2C7E85A2-08A3-4A18-B554-FDAC5D6CADB6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80% training</a:t>
          </a:r>
        </a:p>
      </dgm:t>
    </dgm:pt>
    <dgm:pt modelId="{9C17AF0E-EF16-4474-B5B1-2DEADA636752}" type="parTrans" cxnId="{3ED92096-C158-47E2-9DE8-5EF108DD9E13}">
      <dgm:prSet/>
      <dgm:spPr/>
      <dgm:t>
        <a:bodyPr/>
        <a:lstStyle/>
        <a:p>
          <a:endParaRPr lang="en-ZA"/>
        </a:p>
      </dgm:t>
    </dgm:pt>
    <dgm:pt modelId="{C6E76012-E2E5-4D1B-A9C5-4D13AD5DA5BC}" type="sibTrans" cxnId="{3ED92096-C158-47E2-9DE8-5EF108DD9E13}">
      <dgm:prSet/>
      <dgm:spPr/>
      <dgm:t>
        <a:bodyPr/>
        <a:lstStyle/>
        <a:p>
          <a:endParaRPr lang="en-ZA"/>
        </a:p>
      </dgm:t>
    </dgm:pt>
    <dgm:pt modelId="{AF619FE3-BC5E-4B14-B8F5-37D5DCC68F54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variables -&gt; imputation using the most common value</a:t>
          </a:r>
        </a:p>
      </dgm:t>
    </dgm:pt>
    <dgm:pt modelId="{6DFA5DB1-0397-4C98-AB76-E7F83D94A32C}" type="parTrans" cxnId="{971ECD6F-D5ED-4270-AC85-3477F9D14A96}">
      <dgm:prSet/>
      <dgm:spPr/>
      <dgm:t>
        <a:bodyPr/>
        <a:lstStyle/>
        <a:p>
          <a:endParaRPr lang="en-ZA"/>
        </a:p>
      </dgm:t>
    </dgm:pt>
    <dgm:pt modelId="{B0D58146-CD05-405E-A8AB-6D595C0ED038}" type="sibTrans" cxnId="{971ECD6F-D5ED-4270-AC85-3477F9D14A96}">
      <dgm:prSet/>
      <dgm:spPr/>
      <dgm:t>
        <a:bodyPr/>
        <a:lstStyle/>
        <a:p>
          <a:endParaRPr lang="en-ZA"/>
        </a:p>
      </dgm:t>
    </dgm:pt>
    <dgm:pt modelId="{A413E896-9B3E-41D2-9EA9-1CF960FA1FD2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Scaling guarantees that attributes with varying numerical ranges can appropriately influence distance and scale sensitive algorithms</a:t>
          </a:r>
        </a:p>
      </dgm:t>
    </dgm:pt>
    <dgm:pt modelId="{8257E544-0AD4-4069-BE64-E375684A0B3C}" type="parTrans" cxnId="{4D9D3D8D-5EC7-491E-89F0-7425DBEE13E8}">
      <dgm:prSet/>
      <dgm:spPr/>
      <dgm:t>
        <a:bodyPr/>
        <a:lstStyle/>
        <a:p>
          <a:endParaRPr lang="en-ZA"/>
        </a:p>
      </dgm:t>
    </dgm:pt>
    <dgm:pt modelId="{4D63DCEB-3C94-4F4E-B095-BD89F6DDA780}" type="sibTrans" cxnId="{4D9D3D8D-5EC7-491E-89F0-7425DBEE13E8}">
      <dgm:prSet/>
      <dgm:spPr/>
      <dgm:t>
        <a:bodyPr/>
        <a:lstStyle/>
        <a:p>
          <a:endParaRPr lang="en-ZA"/>
        </a:p>
      </dgm:t>
    </dgm:pt>
    <dgm:pt modelId="{D89A4611-AFA0-4598-83F3-EBB41A9008EB}">
      <dgm:prSet phldrT="[Text]" phldr="0"/>
      <dgm:spPr/>
      <dgm:t>
        <a:bodyPr/>
        <a:lstStyle/>
        <a:p>
          <a:r>
            <a:rPr lang="en-ZA">
              <a:latin typeface="Times New Roman" panose="02020603050405020304" pitchFamily="18" charset="0"/>
              <a:cs typeface="Times New Roman" panose="02020603050405020304" pitchFamily="18" charset="0"/>
            </a:rPr>
            <a:t>20% examination</a:t>
          </a:r>
          <a:endParaRPr lang="en-ZA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DCF9A5-2036-4F9F-82FB-C9DF6721C467}" type="parTrans" cxnId="{5E4FCF37-E7F6-4904-BFC1-24F61B39A5DA}">
      <dgm:prSet/>
      <dgm:spPr/>
      <dgm:t>
        <a:bodyPr/>
        <a:lstStyle/>
        <a:p>
          <a:endParaRPr lang="en-ZA"/>
        </a:p>
      </dgm:t>
    </dgm:pt>
    <dgm:pt modelId="{D538D62E-1548-4F2C-B924-1FC599ECD0C7}" type="sibTrans" cxnId="{5E4FCF37-E7F6-4904-BFC1-24F61B39A5DA}">
      <dgm:prSet/>
      <dgm:spPr/>
      <dgm:t>
        <a:bodyPr/>
        <a:lstStyle/>
        <a:p>
          <a:endParaRPr lang="en-ZA"/>
        </a:p>
      </dgm:t>
    </dgm:pt>
    <dgm:pt modelId="{D4450E95-6F11-4E79-ABDD-AB1DAEC106EA}">
      <dgm:prSet phldrT="[Text]" phldr="0"/>
      <dgm:spPr/>
      <dgm:t>
        <a:bodyPr/>
        <a:lstStyle/>
        <a:p>
          <a:r>
            <a:rPr lang="en-ZA" dirty="0">
              <a:latin typeface="Times New Roman" panose="02020603050405020304" pitchFamily="18" charset="0"/>
              <a:cs typeface="Times New Roman" panose="02020603050405020304" pitchFamily="18" charset="0"/>
            </a:rPr>
            <a:t>Segmented based on </a:t>
          </a:r>
          <a:r>
            <a:rPr lang="en-ZA" dirty="0" err="1">
              <a:latin typeface="Times New Roman" panose="02020603050405020304" pitchFamily="18" charset="0"/>
              <a:cs typeface="Times New Roman" panose="02020603050405020304" pitchFamily="18" charset="0"/>
            </a:rPr>
            <a:t>loan_status</a:t>
          </a:r>
          <a:endParaRPr lang="en-ZA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84B5AF-20A9-41DF-893F-8261C91507B7}" type="parTrans" cxnId="{2337DFF6-0B77-480E-9883-F032BD50D383}">
      <dgm:prSet/>
      <dgm:spPr/>
      <dgm:t>
        <a:bodyPr/>
        <a:lstStyle/>
        <a:p>
          <a:endParaRPr lang="en-ZA"/>
        </a:p>
      </dgm:t>
    </dgm:pt>
    <dgm:pt modelId="{08A74EA8-5FBF-4EC8-90A5-08BB2A0570B3}" type="sibTrans" cxnId="{2337DFF6-0B77-480E-9883-F032BD50D383}">
      <dgm:prSet/>
      <dgm:spPr/>
      <dgm:t>
        <a:bodyPr/>
        <a:lstStyle/>
        <a:p>
          <a:endParaRPr lang="en-ZA"/>
        </a:p>
      </dgm:t>
    </dgm:pt>
    <dgm:pt modelId="{C7A04A1D-B725-4ACF-867B-4B8265EA3A03}" type="pres">
      <dgm:prSet presAssocID="{5CD385FB-1039-4413-93D9-DDC93B6CB9F5}" presName="rootnode" presStyleCnt="0">
        <dgm:presLayoutVars>
          <dgm:chMax/>
          <dgm:chPref/>
          <dgm:dir/>
          <dgm:animLvl val="lvl"/>
        </dgm:presLayoutVars>
      </dgm:prSet>
      <dgm:spPr/>
    </dgm:pt>
    <dgm:pt modelId="{8394BB18-278D-4080-A730-B8B2914E36BC}" type="pres">
      <dgm:prSet presAssocID="{F6F6F277-F786-4047-AD32-E6192A32C5D9}" presName="composite" presStyleCnt="0"/>
      <dgm:spPr/>
    </dgm:pt>
    <dgm:pt modelId="{D200C58E-ACFE-453A-AA2D-FE992159AA15}" type="pres">
      <dgm:prSet presAssocID="{F6F6F277-F786-4047-AD32-E6192A32C5D9}" presName="bentUpArrow1" presStyleLbl="alignImgPlace1" presStyleIdx="0" presStyleCnt="5"/>
      <dgm:spPr/>
    </dgm:pt>
    <dgm:pt modelId="{B80F5318-2E29-443F-A05F-45EB1F8D5C0A}" type="pres">
      <dgm:prSet presAssocID="{F6F6F277-F786-4047-AD32-E6192A32C5D9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D010097B-2D48-45BA-AED4-EC741051432A}" type="pres">
      <dgm:prSet presAssocID="{F6F6F277-F786-4047-AD32-E6192A32C5D9}" presName="Child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FAE74404-4180-473A-BB73-F7D4F2922A9E}" type="pres">
      <dgm:prSet presAssocID="{03F79CAF-FC60-426C-B754-27ACC942D54D}" presName="sibTrans" presStyleCnt="0"/>
      <dgm:spPr/>
    </dgm:pt>
    <dgm:pt modelId="{B06725CF-13AD-480E-BBF5-71C73FE24A2F}" type="pres">
      <dgm:prSet presAssocID="{BAE7ADB0-1B43-4A7E-959C-9A80925A8BC1}" presName="composite" presStyleCnt="0"/>
      <dgm:spPr/>
    </dgm:pt>
    <dgm:pt modelId="{C78CD103-9790-469E-9D1F-A3D30A2494C7}" type="pres">
      <dgm:prSet presAssocID="{BAE7ADB0-1B43-4A7E-959C-9A80925A8BC1}" presName="bentUpArrow1" presStyleLbl="alignImgPlace1" presStyleIdx="1" presStyleCnt="5"/>
      <dgm:spPr/>
    </dgm:pt>
    <dgm:pt modelId="{403D3E56-FE81-4BC9-B2A4-2050C8E3B38E}" type="pres">
      <dgm:prSet presAssocID="{BAE7ADB0-1B43-4A7E-959C-9A80925A8BC1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F364764B-CE8D-49F9-A5FC-2D96EFB2B1C3}" type="pres">
      <dgm:prSet presAssocID="{BAE7ADB0-1B43-4A7E-959C-9A80925A8BC1}" presName="Child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D8AC4099-E11E-4A31-89A2-B4A34AD6160B}" type="pres">
      <dgm:prSet presAssocID="{E3637FE3-ADC9-484A-B338-213D32BA015F}" presName="sibTrans" presStyleCnt="0"/>
      <dgm:spPr/>
    </dgm:pt>
    <dgm:pt modelId="{0DC48145-0E9E-4E80-82B9-331A798D9E01}" type="pres">
      <dgm:prSet presAssocID="{0EA66DEA-EC2F-4BDA-865F-B70631B33A9B}" presName="composite" presStyleCnt="0"/>
      <dgm:spPr/>
    </dgm:pt>
    <dgm:pt modelId="{92E2C9A3-356E-4FD9-8AB7-990254CA9CDC}" type="pres">
      <dgm:prSet presAssocID="{0EA66DEA-EC2F-4BDA-865F-B70631B33A9B}" presName="bentUpArrow1" presStyleLbl="alignImgPlace1" presStyleIdx="2" presStyleCnt="5"/>
      <dgm:spPr/>
    </dgm:pt>
    <dgm:pt modelId="{E87D911D-E3E3-44D3-A265-2B08B9D26BA9}" type="pres">
      <dgm:prSet presAssocID="{0EA66DEA-EC2F-4BDA-865F-B70631B33A9B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9F482E12-06A4-4D36-A57D-9E36E77F7C2E}" type="pres">
      <dgm:prSet presAssocID="{0EA66DEA-EC2F-4BDA-865F-B70631B33A9B}" presName="Child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8D9D3155-353C-4A06-B717-42C7CB602D10}" type="pres">
      <dgm:prSet presAssocID="{7AC81A5F-43BA-4DE3-B85E-17B45802D305}" presName="sibTrans" presStyleCnt="0"/>
      <dgm:spPr/>
    </dgm:pt>
    <dgm:pt modelId="{50F20FB7-DA2E-406D-A0DE-E38757587E68}" type="pres">
      <dgm:prSet presAssocID="{302BDC54-A305-4FCD-A66B-653B5486B5DC}" presName="composite" presStyleCnt="0"/>
      <dgm:spPr/>
    </dgm:pt>
    <dgm:pt modelId="{5C39587D-2B70-4AAF-AA92-0544CCE0F707}" type="pres">
      <dgm:prSet presAssocID="{302BDC54-A305-4FCD-A66B-653B5486B5DC}" presName="bentUpArrow1" presStyleLbl="alignImgPlace1" presStyleIdx="3" presStyleCnt="5"/>
      <dgm:spPr/>
    </dgm:pt>
    <dgm:pt modelId="{B8F791FB-52AA-4D31-ADD6-3837FFF7B5A8}" type="pres">
      <dgm:prSet presAssocID="{302BDC54-A305-4FCD-A66B-653B5486B5DC}" presName="ParentText" presStyleLbl="node1" presStyleIdx="3" presStyleCnt="6" custLinFactNeighborX="-6441" custLinFactNeighborY="-5352">
        <dgm:presLayoutVars>
          <dgm:chMax val="1"/>
          <dgm:chPref val="1"/>
          <dgm:bulletEnabled val="1"/>
        </dgm:presLayoutVars>
      </dgm:prSet>
      <dgm:spPr/>
    </dgm:pt>
    <dgm:pt modelId="{FC6EB753-0E3B-4C75-B8E0-C4C9EDEE1143}" type="pres">
      <dgm:prSet presAssocID="{302BDC54-A305-4FCD-A66B-653B5486B5DC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D3CB896-4672-4A30-9B5F-7B0E9252936A}" type="pres">
      <dgm:prSet presAssocID="{1210A82E-0D4A-4D15-8C99-70E5F27277B0}" presName="sibTrans" presStyleCnt="0"/>
      <dgm:spPr/>
    </dgm:pt>
    <dgm:pt modelId="{03127CAC-887E-4F06-BEDB-EB6073331482}" type="pres">
      <dgm:prSet presAssocID="{0C877845-C766-420E-B46A-11D5CC7BB1B7}" presName="composite" presStyleCnt="0"/>
      <dgm:spPr/>
    </dgm:pt>
    <dgm:pt modelId="{1571CD97-C47D-424D-9C06-289D33CA3211}" type="pres">
      <dgm:prSet presAssocID="{0C877845-C766-420E-B46A-11D5CC7BB1B7}" presName="bentUpArrow1" presStyleLbl="alignImgPlace1" presStyleIdx="4" presStyleCnt="5"/>
      <dgm:spPr/>
    </dgm:pt>
    <dgm:pt modelId="{EFDF7DA4-90CE-4B36-A140-649BE69F170B}" type="pres">
      <dgm:prSet presAssocID="{0C877845-C766-420E-B46A-11D5CC7BB1B7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24E80F7-C989-4217-8CC6-DFDAB5C1A751}" type="pres">
      <dgm:prSet presAssocID="{0C877845-C766-420E-B46A-11D5CC7BB1B7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5CB76EF4-E15A-40D5-9384-270CD042032F}" type="pres">
      <dgm:prSet presAssocID="{CC96870A-6196-4346-BD1A-12060A42B6C9}" presName="sibTrans" presStyleCnt="0"/>
      <dgm:spPr/>
    </dgm:pt>
    <dgm:pt modelId="{40E3F128-BDD0-44AF-BF6C-BC764319C1F1}" type="pres">
      <dgm:prSet presAssocID="{B4F34122-3444-408E-BB43-6999C2B3F568}" presName="composite" presStyleCnt="0"/>
      <dgm:spPr/>
    </dgm:pt>
    <dgm:pt modelId="{5CEB033B-1582-4150-9B41-39A083885877}" type="pres">
      <dgm:prSet presAssocID="{B4F34122-3444-408E-BB43-6999C2B3F568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  <dgm:pt modelId="{B2CD55AA-9470-423E-8C36-6CC960048FB7}" type="pres">
      <dgm:prSet presAssocID="{B4F34122-3444-408E-BB43-6999C2B3F568}" presName="Final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4627E03-47AF-4A56-AEB9-FDBA9E255B29}" type="presOf" srcId="{80D9AE3D-1199-4C2C-B686-70FBF1AB9139}" destId="{F364764B-CE8D-49F9-A5FC-2D96EFB2B1C3}" srcOrd="0" destOrd="0" presId="urn:microsoft.com/office/officeart/2005/8/layout/StepDownProcess"/>
    <dgm:cxn modelId="{161CCD18-7480-4EDE-84DC-F0BD5900C6DF}" type="presOf" srcId="{F6F6F277-F786-4047-AD32-E6192A32C5D9}" destId="{B80F5318-2E29-443F-A05F-45EB1F8D5C0A}" srcOrd="0" destOrd="0" presId="urn:microsoft.com/office/officeart/2005/8/layout/StepDownProcess"/>
    <dgm:cxn modelId="{DE4E212D-A16C-4D52-9EB2-BF89456755CB}" type="presOf" srcId="{D4450E95-6F11-4E79-ABDD-AB1DAEC106EA}" destId="{B2CD55AA-9470-423E-8C36-6CC960048FB7}" srcOrd="0" destOrd="2" presId="urn:microsoft.com/office/officeart/2005/8/layout/StepDownProcess"/>
    <dgm:cxn modelId="{ADAFA72F-CAE2-43C0-8969-5FF001C5435A}" srcId="{BAE7ADB0-1B43-4A7E-959C-9A80925A8BC1}" destId="{80D9AE3D-1199-4C2C-B686-70FBF1AB9139}" srcOrd="0" destOrd="0" parTransId="{0C0164A0-6C93-4AF3-9E62-8AC01047CD5E}" sibTransId="{4E6846C7-2BA1-44DD-8005-73E639910035}"/>
    <dgm:cxn modelId="{5E4FCF37-E7F6-4904-BFC1-24F61B39A5DA}" srcId="{B4F34122-3444-408E-BB43-6999C2B3F568}" destId="{D89A4611-AFA0-4598-83F3-EBB41A9008EB}" srcOrd="1" destOrd="0" parTransId="{79DCF9A5-2036-4F9F-82FB-C9DF6721C467}" sibTransId="{D538D62E-1548-4F2C-B924-1FC599ECD0C7}"/>
    <dgm:cxn modelId="{C7B0E13D-D35E-4833-BEC9-85DA63DED8D2}" type="presOf" srcId="{2C7E85A2-08A3-4A18-B554-FDAC5D6CADB6}" destId="{B2CD55AA-9470-423E-8C36-6CC960048FB7}" srcOrd="0" destOrd="0" presId="urn:microsoft.com/office/officeart/2005/8/layout/StepDownProcess"/>
    <dgm:cxn modelId="{2343C05F-ADBF-4184-9E0D-648ED9C9CF97}" type="presOf" srcId="{0C877845-C766-420E-B46A-11D5CC7BB1B7}" destId="{EFDF7DA4-90CE-4B36-A140-649BE69F170B}" srcOrd="0" destOrd="0" presId="urn:microsoft.com/office/officeart/2005/8/layout/StepDownProcess"/>
    <dgm:cxn modelId="{97A52261-8290-4EDD-A00E-97B00FADA09D}" srcId="{F6F6F277-F786-4047-AD32-E6192A32C5D9}" destId="{4BC38F52-88DA-4DA3-8879-1B6E5F1CD07D}" srcOrd="0" destOrd="0" parTransId="{61A08834-E0B0-486F-8E8C-C0D33BDA4C36}" sibTransId="{CEAB76CA-1ED4-46BE-A437-112C23ED38F1}"/>
    <dgm:cxn modelId="{A16C5341-C546-4346-B581-B5DD82FEA313}" srcId="{5CD385FB-1039-4413-93D9-DDC93B6CB9F5}" destId="{302BDC54-A305-4FCD-A66B-653B5486B5DC}" srcOrd="3" destOrd="0" parTransId="{6EF19898-0D42-4729-9A08-4BF55BEFCD44}" sibTransId="{1210A82E-0D4A-4D15-8C99-70E5F27277B0}"/>
    <dgm:cxn modelId="{E801B844-43C6-4386-9053-34E3B3BE83FD}" srcId="{5CD385FB-1039-4413-93D9-DDC93B6CB9F5}" destId="{0C877845-C766-420E-B46A-11D5CC7BB1B7}" srcOrd="4" destOrd="0" parTransId="{28147DCB-80FC-4CFC-9BE5-9193D2FC8AAB}" sibTransId="{CC96870A-6196-4346-BD1A-12060A42B6C9}"/>
    <dgm:cxn modelId="{B8C3D266-A322-4C74-863E-592125C67606}" type="presOf" srcId="{3CACB5D7-AB21-4B33-BAFB-10692A0999CA}" destId="{FC6EB753-0E3B-4C75-B8E0-C4C9EDEE1143}" srcOrd="0" destOrd="0" presId="urn:microsoft.com/office/officeart/2005/8/layout/StepDownProcess"/>
    <dgm:cxn modelId="{0BE4AF6C-8F53-4A1C-B458-CD2FFAB0D403}" srcId="{5CD385FB-1039-4413-93D9-DDC93B6CB9F5}" destId="{BAE7ADB0-1B43-4A7E-959C-9A80925A8BC1}" srcOrd="1" destOrd="0" parTransId="{2DCCE13B-605D-4699-8251-BD1C98E89E50}" sibTransId="{E3637FE3-ADC9-484A-B338-213D32BA015F}"/>
    <dgm:cxn modelId="{971ECD6F-D5ED-4270-AC85-3477F9D14A96}" srcId="{BAE7ADB0-1B43-4A7E-959C-9A80925A8BC1}" destId="{AF619FE3-BC5E-4B14-B8F5-37D5DCC68F54}" srcOrd="1" destOrd="0" parTransId="{6DFA5DB1-0397-4C98-AB76-E7F83D94A32C}" sibTransId="{B0D58146-CD05-405E-A8AB-6D595C0ED038}"/>
    <dgm:cxn modelId="{A0A6BE7E-D221-40EB-8D85-FD084D8E6998}" type="presOf" srcId="{A413E896-9B3E-41D2-9EA9-1CF960FA1FD2}" destId="{324E80F7-C989-4217-8CC6-DFDAB5C1A751}" srcOrd="0" destOrd="1" presId="urn:microsoft.com/office/officeart/2005/8/layout/StepDownProcess"/>
    <dgm:cxn modelId="{7184F486-9ABF-4337-9CF2-306CF153A829}" type="presOf" srcId="{BAE7ADB0-1B43-4A7E-959C-9A80925A8BC1}" destId="{403D3E56-FE81-4BC9-B2A4-2050C8E3B38E}" srcOrd="0" destOrd="0" presId="urn:microsoft.com/office/officeart/2005/8/layout/StepDownProcess"/>
    <dgm:cxn modelId="{4D9D3D8D-5EC7-491E-89F0-7425DBEE13E8}" srcId="{0C877845-C766-420E-B46A-11D5CC7BB1B7}" destId="{A413E896-9B3E-41D2-9EA9-1CF960FA1FD2}" srcOrd="1" destOrd="0" parTransId="{8257E544-0AD4-4069-BE64-E375684A0B3C}" sibTransId="{4D63DCEB-3C94-4F4E-B095-BD89F6DDA780}"/>
    <dgm:cxn modelId="{E83C9290-95B5-4A5A-93BB-BFB4584D2EC0}" type="presOf" srcId="{D89A4611-AFA0-4598-83F3-EBB41A9008EB}" destId="{B2CD55AA-9470-423E-8C36-6CC960048FB7}" srcOrd="0" destOrd="1" presId="urn:microsoft.com/office/officeart/2005/8/layout/StepDownProcess"/>
    <dgm:cxn modelId="{3ED92096-C158-47E2-9DE8-5EF108DD9E13}" srcId="{B4F34122-3444-408E-BB43-6999C2B3F568}" destId="{2C7E85A2-08A3-4A18-B554-FDAC5D6CADB6}" srcOrd="0" destOrd="0" parTransId="{9C17AF0E-EF16-4474-B5B1-2DEADA636752}" sibTransId="{C6E76012-E2E5-4D1B-A9C5-4D13AD5DA5BC}"/>
    <dgm:cxn modelId="{51BAB89E-C789-4162-9D40-C369375C05B3}" type="presOf" srcId="{9A7660D8-4F68-42E5-88E5-E856663E4993}" destId="{324E80F7-C989-4217-8CC6-DFDAB5C1A751}" srcOrd="0" destOrd="0" presId="urn:microsoft.com/office/officeart/2005/8/layout/StepDownProcess"/>
    <dgm:cxn modelId="{311284A1-B7F2-47FC-8EE7-F598EA5E9B4E}" srcId="{0EA66DEA-EC2F-4BDA-865F-B70631B33A9B}" destId="{79E1CCD4-7F59-41AD-8DF4-7B59E84FE9CA}" srcOrd="0" destOrd="0" parTransId="{D5513B52-2232-4AEC-811F-5BE9D0CC0E78}" sibTransId="{E9E6F334-1799-4F9A-9330-D9903D6B8F75}"/>
    <dgm:cxn modelId="{094998B4-6405-4931-A960-983376EC92D5}" type="presOf" srcId="{302BDC54-A305-4FCD-A66B-653B5486B5DC}" destId="{B8F791FB-52AA-4D31-ADD6-3837FFF7B5A8}" srcOrd="0" destOrd="0" presId="urn:microsoft.com/office/officeart/2005/8/layout/StepDownProcess"/>
    <dgm:cxn modelId="{2304D7B6-D81A-4F7F-9E4C-8ACB1177A067}" type="presOf" srcId="{4BC38F52-88DA-4DA3-8879-1B6E5F1CD07D}" destId="{D010097B-2D48-45BA-AED4-EC741051432A}" srcOrd="0" destOrd="0" presId="urn:microsoft.com/office/officeart/2005/8/layout/StepDownProcess"/>
    <dgm:cxn modelId="{592DADB8-B050-4121-9615-F9B87E13EBE7}" srcId="{5CD385FB-1039-4413-93D9-DDC93B6CB9F5}" destId="{0EA66DEA-EC2F-4BDA-865F-B70631B33A9B}" srcOrd="2" destOrd="0" parTransId="{5E9DBD0C-5ECA-4176-BFAC-965307223DA9}" sibTransId="{7AC81A5F-43BA-4DE3-B85E-17B45802D305}"/>
    <dgm:cxn modelId="{55A1B6B8-37B4-4871-95D4-7F967919CEC7}" srcId="{5CD385FB-1039-4413-93D9-DDC93B6CB9F5}" destId="{F6F6F277-F786-4047-AD32-E6192A32C5D9}" srcOrd="0" destOrd="0" parTransId="{02CFBF88-69A7-43E1-99F4-DE092D6456E4}" sibTransId="{03F79CAF-FC60-426C-B754-27ACC942D54D}"/>
    <dgm:cxn modelId="{166C4ABA-222D-4C36-AE1F-5A9F543DF28E}" type="presOf" srcId="{B4F34122-3444-408E-BB43-6999C2B3F568}" destId="{5CEB033B-1582-4150-9B41-39A083885877}" srcOrd="0" destOrd="0" presId="urn:microsoft.com/office/officeart/2005/8/layout/StepDownProcess"/>
    <dgm:cxn modelId="{73A36CBC-8711-48E8-AD86-B7427CB231EB}" type="presOf" srcId="{5CD385FB-1039-4413-93D9-DDC93B6CB9F5}" destId="{C7A04A1D-B725-4ACF-867B-4B8265EA3A03}" srcOrd="0" destOrd="0" presId="urn:microsoft.com/office/officeart/2005/8/layout/StepDownProcess"/>
    <dgm:cxn modelId="{AAE202BF-5B71-4D21-9CF0-4327532FF99F}" type="presOf" srcId="{0EA66DEA-EC2F-4BDA-865F-B70631B33A9B}" destId="{E87D911D-E3E3-44D3-A265-2B08B9D26BA9}" srcOrd="0" destOrd="0" presId="urn:microsoft.com/office/officeart/2005/8/layout/StepDownProcess"/>
    <dgm:cxn modelId="{13F4DAC5-824C-476D-8B92-C26CCCB48EC4}" srcId="{302BDC54-A305-4FCD-A66B-653B5486B5DC}" destId="{3CACB5D7-AB21-4B33-BAFB-10692A0999CA}" srcOrd="0" destOrd="0" parTransId="{ED6C2ED6-4816-465E-8E08-BC1C54CC408E}" sibTransId="{201DFAF6-6CF3-470B-9D5C-154916EA31F3}"/>
    <dgm:cxn modelId="{53A9B7CA-DB80-4AC8-84DB-7C280BE76762}" srcId="{5CD385FB-1039-4413-93D9-DDC93B6CB9F5}" destId="{B4F34122-3444-408E-BB43-6999C2B3F568}" srcOrd="5" destOrd="0" parTransId="{6CCFCD66-5766-4909-A75E-5E9F7CEDB048}" sibTransId="{BD0E4793-F90B-4FA9-BCCA-EC92C17C159E}"/>
    <dgm:cxn modelId="{DEF6F6CD-D715-4DFB-B815-ACC9625EC259}" type="presOf" srcId="{79E1CCD4-7F59-41AD-8DF4-7B59E84FE9CA}" destId="{9F482E12-06A4-4D36-A57D-9E36E77F7C2E}" srcOrd="0" destOrd="0" presId="urn:microsoft.com/office/officeart/2005/8/layout/StepDownProcess"/>
    <dgm:cxn modelId="{808F8FCF-7739-43FB-AE62-D5E24ADF5919}" srcId="{0C877845-C766-420E-B46A-11D5CC7BB1B7}" destId="{9A7660D8-4F68-42E5-88E5-E856663E4993}" srcOrd="0" destOrd="0" parTransId="{CC339CF5-5AE1-4C18-9A2A-91874FBFA19E}" sibTransId="{BB89846B-604B-47A2-A67E-F7656F533A20}"/>
    <dgm:cxn modelId="{2337DFF6-0B77-480E-9883-F032BD50D383}" srcId="{B4F34122-3444-408E-BB43-6999C2B3F568}" destId="{D4450E95-6F11-4E79-ABDD-AB1DAEC106EA}" srcOrd="2" destOrd="0" parTransId="{4F84B5AF-20A9-41DF-893F-8261C91507B7}" sibTransId="{08A74EA8-5FBF-4EC8-90A5-08BB2A0570B3}"/>
    <dgm:cxn modelId="{052A91FB-6223-4FB4-82A2-C7DCB87D483C}" type="presOf" srcId="{AF619FE3-BC5E-4B14-B8F5-37D5DCC68F54}" destId="{F364764B-CE8D-49F9-A5FC-2D96EFB2B1C3}" srcOrd="0" destOrd="1" presId="urn:microsoft.com/office/officeart/2005/8/layout/StepDownProcess"/>
    <dgm:cxn modelId="{006D5745-ED3B-4396-A282-C208602766EB}" type="presParOf" srcId="{C7A04A1D-B725-4ACF-867B-4B8265EA3A03}" destId="{8394BB18-278D-4080-A730-B8B2914E36BC}" srcOrd="0" destOrd="0" presId="urn:microsoft.com/office/officeart/2005/8/layout/StepDownProcess"/>
    <dgm:cxn modelId="{A05868A7-D25D-4FAC-BCD1-69D2FEBECA1D}" type="presParOf" srcId="{8394BB18-278D-4080-A730-B8B2914E36BC}" destId="{D200C58E-ACFE-453A-AA2D-FE992159AA15}" srcOrd="0" destOrd="0" presId="urn:microsoft.com/office/officeart/2005/8/layout/StepDownProcess"/>
    <dgm:cxn modelId="{EC71547F-E4CA-4668-BE43-09318ED31AF1}" type="presParOf" srcId="{8394BB18-278D-4080-A730-B8B2914E36BC}" destId="{B80F5318-2E29-443F-A05F-45EB1F8D5C0A}" srcOrd="1" destOrd="0" presId="urn:microsoft.com/office/officeart/2005/8/layout/StepDownProcess"/>
    <dgm:cxn modelId="{EF4D4788-E912-467D-9641-DE05ED46C116}" type="presParOf" srcId="{8394BB18-278D-4080-A730-B8B2914E36BC}" destId="{D010097B-2D48-45BA-AED4-EC741051432A}" srcOrd="2" destOrd="0" presId="urn:microsoft.com/office/officeart/2005/8/layout/StepDownProcess"/>
    <dgm:cxn modelId="{BD8A37CC-3D1F-4135-B709-8436A021F14B}" type="presParOf" srcId="{C7A04A1D-B725-4ACF-867B-4B8265EA3A03}" destId="{FAE74404-4180-473A-BB73-F7D4F2922A9E}" srcOrd="1" destOrd="0" presId="urn:microsoft.com/office/officeart/2005/8/layout/StepDownProcess"/>
    <dgm:cxn modelId="{8EC3DB4C-F2EA-440B-A732-6B34C617E246}" type="presParOf" srcId="{C7A04A1D-B725-4ACF-867B-4B8265EA3A03}" destId="{B06725CF-13AD-480E-BBF5-71C73FE24A2F}" srcOrd="2" destOrd="0" presId="urn:microsoft.com/office/officeart/2005/8/layout/StepDownProcess"/>
    <dgm:cxn modelId="{0DBFEA3A-163B-4B5E-80BB-E80A27AC810F}" type="presParOf" srcId="{B06725CF-13AD-480E-BBF5-71C73FE24A2F}" destId="{C78CD103-9790-469E-9D1F-A3D30A2494C7}" srcOrd="0" destOrd="0" presId="urn:microsoft.com/office/officeart/2005/8/layout/StepDownProcess"/>
    <dgm:cxn modelId="{AB9211F4-9B69-482E-8F23-8A76F2D73B06}" type="presParOf" srcId="{B06725CF-13AD-480E-BBF5-71C73FE24A2F}" destId="{403D3E56-FE81-4BC9-B2A4-2050C8E3B38E}" srcOrd="1" destOrd="0" presId="urn:microsoft.com/office/officeart/2005/8/layout/StepDownProcess"/>
    <dgm:cxn modelId="{3ABCC13C-5FAD-436C-A840-6E9BE8252406}" type="presParOf" srcId="{B06725CF-13AD-480E-BBF5-71C73FE24A2F}" destId="{F364764B-CE8D-49F9-A5FC-2D96EFB2B1C3}" srcOrd="2" destOrd="0" presId="urn:microsoft.com/office/officeart/2005/8/layout/StepDownProcess"/>
    <dgm:cxn modelId="{AEA4677D-A57F-4B2E-BC1F-461A22CF2FB2}" type="presParOf" srcId="{C7A04A1D-B725-4ACF-867B-4B8265EA3A03}" destId="{D8AC4099-E11E-4A31-89A2-B4A34AD6160B}" srcOrd="3" destOrd="0" presId="urn:microsoft.com/office/officeart/2005/8/layout/StepDownProcess"/>
    <dgm:cxn modelId="{EF065832-FC6C-4488-812D-8B3DAB79B779}" type="presParOf" srcId="{C7A04A1D-B725-4ACF-867B-4B8265EA3A03}" destId="{0DC48145-0E9E-4E80-82B9-331A798D9E01}" srcOrd="4" destOrd="0" presId="urn:microsoft.com/office/officeart/2005/8/layout/StepDownProcess"/>
    <dgm:cxn modelId="{4D749463-B5BD-4D60-80EA-FE0DA3A29E7D}" type="presParOf" srcId="{0DC48145-0E9E-4E80-82B9-331A798D9E01}" destId="{92E2C9A3-356E-4FD9-8AB7-990254CA9CDC}" srcOrd="0" destOrd="0" presId="urn:microsoft.com/office/officeart/2005/8/layout/StepDownProcess"/>
    <dgm:cxn modelId="{27CD05A3-069C-4817-8B10-5460301F89A7}" type="presParOf" srcId="{0DC48145-0E9E-4E80-82B9-331A798D9E01}" destId="{E87D911D-E3E3-44D3-A265-2B08B9D26BA9}" srcOrd="1" destOrd="0" presId="urn:microsoft.com/office/officeart/2005/8/layout/StepDownProcess"/>
    <dgm:cxn modelId="{81630591-3B73-499A-8EE7-092D0E649511}" type="presParOf" srcId="{0DC48145-0E9E-4E80-82B9-331A798D9E01}" destId="{9F482E12-06A4-4D36-A57D-9E36E77F7C2E}" srcOrd="2" destOrd="0" presId="urn:microsoft.com/office/officeart/2005/8/layout/StepDownProcess"/>
    <dgm:cxn modelId="{F27AD793-2A1F-4CFB-9CD6-416540A56040}" type="presParOf" srcId="{C7A04A1D-B725-4ACF-867B-4B8265EA3A03}" destId="{8D9D3155-353C-4A06-B717-42C7CB602D10}" srcOrd="5" destOrd="0" presId="urn:microsoft.com/office/officeart/2005/8/layout/StepDownProcess"/>
    <dgm:cxn modelId="{1ACA39DD-AE69-4325-86BF-D72F2215747B}" type="presParOf" srcId="{C7A04A1D-B725-4ACF-867B-4B8265EA3A03}" destId="{50F20FB7-DA2E-406D-A0DE-E38757587E68}" srcOrd="6" destOrd="0" presId="urn:microsoft.com/office/officeart/2005/8/layout/StepDownProcess"/>
    <dgm:cxn modelId="{C68A113B-A100-4A5C-9FE2-F4DFA27F17DA}" type="presParOf" srcId="{50F20FB7-DA2E-406D-A0DE-E38757587E68}" destId="{5C39587D-2B70-4AAF-AA92-0544CCE0F707}" srcOrd="0" destOrd="0" presId="urn:microsoft.com/office/officeart/2005/8/layout/StepDownProcess"/>
    <dgm:cxn modelId="{B6ABC790-C704-4441-A6C4-0F110571DC9E}" type="presParOf" srcId="{50F20FB7-DA2E-406D-A0DE-E38757587E68}" destId="{B8F791FB-52AA-4D31-ADD6-3837FFF7B5A8}" srcOrd="1" destOrd="0" presId="urn:microsoft.com/office/officeart/2005/8/layout/StepDownProcess"/>
    <dgm:cxn modelId="{CEDD91DC-1C1D-4EC8-9308-6D8976F8E379}" type="presParOf" srcId="{50F20FB7-DA2E-406D-A0DE-E38757587E68}" destId="{FC6EB753-0E3B-4C75-B8E0-C4C9EDEE1143}" srcOrd="2" destOrd="0" presId="urn:microsoft.com/office/officeart/2005/8/layout/StepDownProcess"/>
    <dgm:cxn modelId="{03C49614-B61B-4CBE-A3E1-CD6C7BF8F16A}" type="presParOf" srcId="{C7A04A1D-B725-4ACF-867B-4B8265EA3A03}" destId="{4D3CB896-4672-4A30-9B5F-7B0E9252936A}" srcOrd="7" destOrd="0" presId="urn:microsoft.com/office/officeart/2005/8/layout/StepDownProcess"/>
    <dgm:cxn modelId="{3450B33D-95E0-457B-BB24-CDD855B9732D}" type="presParOf" srcId="{C7A04A1D-B725-4ACF-867B-4B8265EA3A03}" destId="{03127CAC-887E-4F06-BEDB-EB6073331482}" srcOrd="8" destOrd="0" presId="urn:microsoft.com/office/officeart/2005/8/layout/StepDownProcess"/>
    <dgm:cxn modelId="{8D82E9CB-7406-4325-8531-048CB0763551}" type="presParOf" srcId="{03127CAC-887E-4F06-BEDB-EB6073331482}" destId="{1571CD97-C47D-424D-9C06-289D33CA3211}" srcOrd="0" destOrd="0" presId="urn:microsoft.com/office/officeart/2005/8/layout/StepDownProcess"/>
    <dgm:cxn modelId="{20E8EC25-434E-4005-AE5E-DF5B7F4EF3CB}" type="presParOf" srcId="{03127CAC-887E-4F06-BEDB-EB6073331482}" destId="{EFDF7DA4-90CE-4B36-A140-649BE69F170B}" srcOrd="1" destOrd="0" presId="urn:microsoft.com/office/officeart/2005/8/layout/StepDownProcess"/>
    <dgm:cxn modelId="{D5FD4E27-DF33-4518-8310-9109113D7BED}" type="presParOf" srcId="{03127CAC-887E-4F06-BEDB-EB6073331482}" destId="{324E80F7-C989-4217-8CC6-DFDAB5C1A751}" srcOrd="2" destOrd="0" presId="urn:microsoft.com/office/officeart/2005/8/layout/StepDownProcess"/>
    <dgm:cxn modelId="{065168C1-42FE-4D69-A25F-8D1D3BE8470C}" type="presParOf" srcId="{C7A04A1D-B725-4ACF-867B-4B8265EA3A03}" destId="{5CB76EF4-E15A-40D5-9384-270CD042032F}" srcOrd="9" destOrd="0" presId="urn:microsoft.com/office/officeart/2005/8/layout/StepDownProcess"/>
    <dgm:cxn modelId="{0AA95FDC-E59B-42CA-BC83-92DDA5115FBD}" type="presParOf" srcId="{C7A04A1D-B725-4ACF-867B-4B8265EA3A03}" destId="{40E3F128-BDD0-44AF-BF6C-BC764319C1F1}" srcOrd="10" destOrd="0" presId="urn:microsoft.com/office/officeart/2005/8/layout/StepDownProcess"/>
    <dgm:cxn modelId="{BCCB0534-2615-4074-B0BE-016B216C4685}" type="presParOf" srcId="{40E3F128-BDD0-44AF-BF6C-BC764319C1F1}" destId="{5CEB033B-1582-4150-9B41-39A083885877}" srcOrd="0" destOrd="0" presId="urn:microsoft.com/office/officeart/2005/8/layout/StepDownProcess"/>
    <dgm:cxn modelId="{C0428105-E477-47FB-95F4-D378E081DCAB}" type="presParOf" srcId="{40E3F128-BDD0-44AF-BF6C-BC764319C1F1}" destId="{B2CD55AA-9470-423E-8C36-6CC960048FB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00C58E-ACFE-453A-AA2D-FE992159AA15}">
      <dsp:nvSpPr>
        <dsp:cNvPr id="0" name=""/>
        <dsp:cNvSpPr/>
      </dsp:nvSpPr>
      <dsp:spPr>
        <a:xfrm rot="5400000">
          <a:off x="2789399" y="739754"/>
          <a:ext cx="636762" cy="7249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F5318-2E29-443F-A05F-45EB1F8D5C0A}">
      <dsp:nvSpPr>
        <dsp:cNvPr id="0" name=""/>
        <dsp:cNvSpPr/>
      </dsp:nvSpPr>
      <dsp:spPr>
        <a:xfrm>
          <a:off x="2620695" y="33890"/>
          <a:ext cx="1071933" cy="7503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n-ZA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Elimination of duplicates</a:t>
          </a:r>
        </a:p>
      </dsp:txBody>
      <dsp:txXfrm>
        <a:off x="2657329" y="70524"/>
        <a:ext cx="998665" cy="677050"/>
      </dsp:txXfrm>
    </dsp:sp>
    <dsp:sp modelId="{D010097B-2D48-45BA-AED4-EC741051432A}">
      <dsp:nvSpPr>
        <dsp:cNvPr id="0" name=""/>
        <dsp:cNvSpPr/>
      </dsp:nvSpPr>
      <dsp:spPr>
        <a:xfrm>
          <a:off x="3692629" y="105450"/>
          <a:ext cx="779622" cy="60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Identical entries were recognized and eliminated</a:t>
          </a:r>
        </a:p>
      </dsp:txBody>
      <dsp:txXfrm>
        <a:off x="3692629" y="105450"/>
        <a:ext cx="779622" cy="606440"/>
      </dsp:txXfrm>
    </dsp:sp>
    <dsp:sp modelId="{C78CD103-9790-469E-9D1F-A3D30A2494C7}">
      <dsp:nvSpPr>
        <dsp:cNvPr id="0" name=""/>
        <dsp:cNvSpPr/>
      </dsp:nvSpPr>
      <dsp:spPr>
        <a:xfrm rot="5400000">
          <a:off x="3678145" y="1582609"/>
          <a:ext cx="636762" cy="7249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D3E56-FE81-4BC9-B2A4-2050C8E3B38E}">
      <dsp:nvSpPr>
        <dsp:cNvPr id="0" name=""/>
        <dsp:cNvSpPr/>
      </dsp:nvSpPr>
      <dsp:spPr>
        <a:xfrm>
          <a:off x="3509442" y="876745"/>
          <a:ext cx="1071933" cy="7503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ZA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Handling missing values</a:t>
          </a:r>
        </a:p>
      </dsp:txBody>
      <dsp:txXfrm>
        <a:off x="3546076" y="913379"/>
        <a:ext cx="998665" cy="677050"/>
      </dsp:txXfrm>
    </dsp:sp>
    <dsp:sp modelId="{F364764B-CE8D-49F9-A5FC-2D96EFB2B1C3}">
      <dsp:nvSpPr>
        <dsp:cNvPr id="0" name=""/>
        <dsp:cNvSpPr/>
      </dsp:nvSpPr>
      <dsp:spPr>
        <a:xfrm>
          <a:off x="4581375" y="948305"/>
          <a:ext cx="779622" cy="60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Numerical variables -&gt; imputation with median</a:t>
          </a:r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variables -&gt; imputation using the most common value</a:t>
          </a:r>
        </a:p>
      </dsp:txBody>
      <dsp:txXfrm>
        <a:off x="4581375" y="948305"/>
        <a:ext cx="779622" cy="606440"/>
      </dsp:txXfrm>
    </dsp:sp>
    <dsp:sp modelId="{92E2C9A3-356E-4FD9-8AB7-990254CA9CDC}">
      <dsp:nvSpPr>
        <dsp:cNvPr id="0" name=""/>
        <dsp:cNvSpPr/>
      </dsp:nvSpPr>
      <dsp:spPr>
        <a:xfrm rot="5400000">
          <a:off x="4566892" y="2425464"/>
          <a:ext cx="636762" cy="7249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D911D-E3E3-44D3-A265-2B08B9D26BA9}">
      <dsp:nvSpPr>
        <dsp:cNvPr id="0" name=""/>
        <dsp:cNvSpPr/>
      </dsp:nvSpPr>
      <dsp:spPr>
        <a:xfrm>
          <a:off x="4398189" y="1719600"/>
          <a:ext cx="1071933" cy="7503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Outlier management</a:t>
          </a:r>
        </a:p>
      </dsp:txBody>
      <dsp:txXfrm>
        <a:off x="4434823" y="1756234"/>
        <a:ext cx="998665" cy="677050"/>
      </dsp:txXfrm>
    </dsp:sp>
    <dsp:sp modelId="{9F482E12-06A4-4D36-A57D-9E36E77F7C2E}">
      <dsp:nvSpPr>
        <dsp:cNvPr id="0" name=""/>
        <dsp:cNvSpPr/>
      </dsp:nvSpPr>
      <dsp:spPr>
        <a:xfrm>
          <a:off x="5470122" y="1791160"/>
          <a:ext cx="779622" cy="60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Possible numerical outliers were addressed through IQR based trimming</a:t>
          </a:r>
        </a:p>
      </dsp:txBody>
      <dsp:txXfrm>
        <a:off x="5470122" y="1791160"/>
        <a:ext cx="779622" cy="606440"/>
      </dsp:txXfrm>
    </dsp:sp>
    <dsp:sp modelId="{5C39587D-2B70-4AAF-AA92-0544CCE0F707}">
      <dsp:nvSpPr>
        <dsp:cNvPr id="0" name=""/>
        <dsp:cNvSpPr/>
      </dsp:nvSpPr>
      <dsp:spPr>
        <a:xfrm rot="5400000">
          <a:off x="5455639" y="3268319"/>
          <a:ext cx="636762" cy="7249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F791FB-52AA-4D31-ADD6-3837FFF7B5A8}">
      <dsp:nvSpPr>
        <dsp:cNvPr id="0" name=""/>
        <dsp:cNvSpPr/>
      </dsp:nvSpPr>
      <dsp:spPr>
        <a:xfrm>
          <a:off x="5217892" y="2522298"/>
          <a:ext cx="1071933" cy="7503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Encoding categories</a:t>
          </a:r>
        </a:p>
      </dsp:txBody>
      <dsp:txXfrm>
        <a:off x="5254526" y="2558932"/>
        <a:ext cx="998665" cy="677050"/>
      </dsp:txXfrm>
    </dsp:sp>
    <dsp:sp modelId="{FC6EB753-0E3B-4C75-B8E0-C4C9EDEE1143}">
      <dsp:nvSpPr>
        <dsp:cNvPr id="0" name=""/>
        <dsp:cNvSpPr/>
      </dsp:nvSpPr>
      <dsp:spPr>
        <a:xfrm>
          <a:off x="6358868" y="2634015"/>
          <a:ext cx="779622" cy="60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variables were transformed through one-hot encoding</a:t>
          </a:r>
        </a:p>
      </dsp:txBody>
      <dsp:txXfrm>
        <a:off x="6358868" y="2634015"/>
        <a:ext cx="779622" cy="606440"/>
      </dsp:txXfrm>
    </dsp:sp>
    <dsp:sp modelId="{1571CD97-C47D-424D-9C06-289D33CA3211}">
      <dsp:nvSpPr>
        <dsp:cNvPr id="0" name=""/>
        <dsp:cNvSpPr/>
      </dsp:nvSpPr>
      <dsp:spPr>
        <a:xfrm rot="5400000">
          <a:off x="6344385" y="4111175"/>
          <a:ext cx="636762" cy="7249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F7DA4-90CE-4B36-A140-649BE69F170B}">
      <dsp:nvSpPr>
        <dsp:cNvPr id="0" name=""/>
        <dsp:cNvSpPr/>
      </dsp:nvSpPr>
      <dsp:spPr>
        <a:xfrm>
          <a:off x="6175682" y="3405311"/>
          <a:ext cx="1071933" cy="7503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Scaling features</a:t>
          </a:r>
        </a:p>
      </dsp:txBody>
      <dsp:txXfrm>
        <a:off x="6212316" y="3441945"/>
        <a:ext cx="998665" cy="677050"/>
      </dsp:txXfrm>
    </dsp:sp>
    <dsp:sp modelId="{324E80F7-C989-4217-8CC6-DFDAB5C1A751}">
      <dsp:nvSpPr>
        <dsp:cNvPr id="0" name=""/>
        <dsp:cNvSpPr/>
      </dsp:nvSpPr>
      <dsp:spPr>
        <a:xfrm>
          <a:off x="7247615" y="3476871"/>
          <a:ext cx="779622" cy="60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Numerical features were normalized utilizing standard scaler</a:t>
          </a:r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Scaling guarantees that attributes with varying numerical ranges can appropriately influence distance and scale sensitive algorithms</a:t>
          </a:r>
        </a:p>
      </dsp:txBody>
      <dsp:txXfrm>
        <a:off x="7247615" y="3476871"/>
        <a:ext cx="779622" cy="606440"/>
      </dsp:txXfrm>
    </dsp:sp>
    <dsp:sp modelId="{5CEB033B-1582-4150-9B41-39A083885877}">
      <dsp:nvSpPr>
        <dsp:cNvPr id="0" name=""/>
        <dsp:cNvSpPr/>
      </dsp:nvSpPr>
      <dsp:spPr>
        <a:xfrm>
          <a:off x="7064428" y="4248166"/>
          <a:ext cx="1071933" cy="7503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6. Divide into training and testing sets</a:t>
          </a:r>
        </a:p>
      </dsp:txBody>
      <dsp:txXfrm>
        <a:off x="7101062" y="4284800"/>
        <a:ext cx="998665" cy="677050"/>
      </dsp:txXfrm>
    </dsp:sp>
    <dsp:sp modelId="{B2CD55AA-9470-423E-8C36-6CC960048FB7}">
      <dsp:nvSpPr>
        <dsp:cNvPr id="0" name=""/>
        <dsp:cNvSpPr/>
      </dsp:nvSpPr>
      <dsp:spPr>
        <a:xfrm>
          <a:off x="8136362" y="4319726"/>
          <a:ext cx="779622" cy="60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80% training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700" kern="1200">
              <a:latin typeface="Times New Roman" panose="02020603050405020304" pitchFamily="18" charset="0"/>
              <a:cs typeface="Times New Roman" panose="02020603050405020304" pitchFamily="18" charset="0"/>
            </a:rPr>
            <a:t>20% examination</a:t>
          </a:r>
          <a:endParaRPr lang="en-ZA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Segmented based on </a:t>
          </a:r>
          <a:r>
            <a:rPr lang="en-ZA" sz="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loan_status</a:t>
          </a:r>
          <a:endParaRPr lang="en-ZA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36362" y="4319726"/>
        <a:ext cx="779622" cy="606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C1F7-E421-39CE-9858-B72081A40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11CA2-5E9B-8F41-9DA6-6BDC53AC0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D6AFE-232D-3E57-E26C-89913EFE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675C-6EA6-880C-D59E-9F9330CC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F8C3C-EDF5-E14B-FDB6-55592835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526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519C-0842-A5EA-FE9F-E94D0B955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D996B-11FD-7D87-CEDB-61A5ECE2F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69F1-CE2C-6924-D99A-970161D0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D083-6821-A6AE-235C-1806F065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927F-35EC-16C8-1533-A77B17FD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116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7CEC-57BC-3A9A-8018-9B0C737D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2D54C-A9BB-1C7A-D729-92E553351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25AF0-2A0A-830D-75B3-C378F813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1E9CD-8DEF-8B29-1377-C08D5D9A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DE062-0B99-D702-9090-1C0935E1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3602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519D-8777-35B7-717E-A7B83CC3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F63F-D3B4-BC20-BFC6-E6CE4A62C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AE103-A112-F340-C2BC-CD4256D85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1F1F3-AAE0-2845-E5FC-FB9E3550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2C768-15FA-E5B7-8A35-5ECD2E46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1F523-F722-A42A-4709-4740602E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435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2E52-8C46-58F4-B8A5-BB4B27E2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E2746-199A-3986-5894-C41F0B9AD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81437-5DB6-530E-C613-0B4295882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96893-FFDB-7347-4BDA-1D635B01B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93973-E270-BF84-4115-112BDDAD0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A4950-0C9C-ACC6-5C1D-3FE0BFC8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0D01C-6A0F-2EF8-7C4F-19BB364A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0DD9C0-742C-B05C-7734-634AE0C4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722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D41E-934B-7F24-938A-E0DD45F0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6DDC0E-6DE7-E724-75BE-427E4A63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C6F3C-01C3-EA01-7E0A-20322145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D78B6-EE1D-C3D8-3FFF-1432D980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061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972DA-AC42-CBAA-AB23-E48D95FC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1B516-E775-9919-9C08-48711A58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DC9AA-9AE3-2A28-583E-74346E00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044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C2B1-C880-FA29-782D-3E5993AA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63C7-58EA-20F5-12D2-003033045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D0B11-4D2F-B3DF-57E6-DED374EDA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95160-6C5F-3478-E5D9-E75F9815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97807-FE9C-61D6-45E5-D1137C731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BB9B2-2D41-0523-F639-BC99A11D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858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030B-1EA2-84B2-9D89-2A5A7BEB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F214C-C20C-FDBB-E1D1-F0B00672C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00F5D-C11C-5BC2-6D17-FD518FED6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1E46C-5BBA-8018-6311-08CBB3C2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C240D-69BC-3CA6-01E1-C7123D07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F423D-8E4D-D11D-C6EF-AC1BC6F0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208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FA38-6542-3FAE-4D2C-B8539D0E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1F74C-7E96-A401-FC0C-37D492B4D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A781-3737-0612-3EE2-8F83938D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65BDE-367C-CE79-46E4-86ACC9BC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120B3-4DE9-CB38-8947-5D9A56A6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329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F0E75-03B6-37D5-958E-257D126A8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52C88-27A5-2A62-E31A-2E926A329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C4F6-50C1-3B1A-E418-DA26726B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3C670-0E1F-A492-804D-CDD5AF45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1EC46-C596-5B65-A663-268B4F69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923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BB3EE-600C-EB66-E93D-2BCDDA3AC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A863D-9E13-B996-F319-98A9E4C17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1E01B-EC74-FF26-B584-D1F05780C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B05E6-EFF3-48E6-97B1-6CE94D0BBCD3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098FC-AD8C-2FE4-8BA0-43CBFC6B0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6EAD5-2CD8-35BC-0292-CF9949912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7506E-E403-4FCB-A346-80C57DDC98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952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netgovernance.org/2023/12/01/the-narrative-december-1-2023/humanusesmartphonewithonlinebankingdigitaltechnologymobilebankin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91FFD2-DA49-BD84-A5B7-8450C38EF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412" r="544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843E4-808E-0B06-AED2-A0935C4F1BA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24567-BA2B-B54C-DE85-FFDC322BAF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600 assignment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Katlego Sambo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number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402306874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semester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prediction using  machine learning and PCA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A18FD-78A4-00BC-CD70-9C587F9EE0DF}"/>
              </a:ext>
            </a:extLst>
          </p:cNvPr>
          <p:cNvSpPr txBox="1"/>
          <p:nvPr/>
        </p:nvSpPr>
        <p:spPr>
          <a:xfrm>
            <a:off x="9581989" y="6657945"/>
            <a:ext cx="261000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  <a:hlinkClick r:id="rId3" tooltip="https://www.internetgovernance.org/2023/12/01/the-narrative-december-1-2023/humanusesmartphonewithonlinebankingdigitaltechnologymobilebankin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ZA" sz="700">
                <a:solidFill>
                  <a:srgbClr val="FFFFFF"/>
                </a:solidFill>
              </a:rPr>
              <a:t> by Unknown Author is licensed under </a:t>
            </a:r>
            <a:r>
              <a:rPr lang="en-ZA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Z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9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0DDF-B8DC-9091-A54E-275737DF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ZA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F6539-AF75-E968-1731-AE787ECBB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need reliable approaches for evaluating credit risk, as poor lending choices can lead to economic losses or lost business chances. </a:t>
            </a:r>
          </a:p>
          <a:p>
            <a:pPr marL="0" indent="0">
              <a:buNone/>
            </a:pPr>
            <a:endParaRPr lang="en-ZA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Create a credit risk prediction system utilizing machine learning techniques 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loan applications based on loan_status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Examine and prepare a real – world credit risk dataset for analysis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Utilize principal component analysis(PCA)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Examine three classification algorithms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top performing model with GridSearchCV</a:t>
            </a:r>
          </a:p>
          <a:p>
            <a:pPr>
              <a:buFontTx/>
              <a:buChar char="-"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outcomes from a business viewpoint</a:t>
            </a:r>
          </a:p>
          <a:p>
            <a:pPr>
              <a:buFontTx/>
              <a:buChar char="-"/>
            </a:pPr>
            <a:endParaRPr lang="en-ZA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Models evaluated </a:t>
            </a:r>
          </a:p>
          <a:p>
            <a:pPr marL="0" indent="0">
              <a:buNone/>
            </a:pPr>
            <a:r>
              <a:rPr lang="en-ZA" sz="100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| K-nearest neighbours | Decision tree </a:t>
            </a:r>
          </a:p>
          <a:p>
            <a:pPr>
              <a:buFontTx/>
              <a:buChar char="-"/>
            </a:pPr>
            <a:endParaRPr lang="en-ZA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ZA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5CDA6665-52D2-48A5-2D22-BFFC175268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9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CA80-A93B-A9F5-1D1B-B8748396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D7DBC-D9C8-285B-F96C-419FB00AA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520826"/>
            <a:ext cx="10515600" cy="2768145"/>
          </a:xfrm>
        </p:spPr>
        <p:txBody>
          <a:bodyPr/>
          <a:lstStyle/>
          <a:p>
            <a:pPr marL="0" indent="0">
              <a:buNone/>
            </a:pPr>
            <a:r>
              <a:rPr lang="en-ZA" b="1" dirty="0"/>
              <a:t>Dataset information</a:t>
            </a:r>
          </a:p>
          <a:p>
            <a:endParaRPr lang="en-Z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61A66D-DEF0-9FE4-5D2D-4287A79F5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522309"/>
              </p:ext>
            </p:extLst>
          </p:nvPr>
        </p:nvGraphicFramePr>
        <p:xfrm>
          <a:off x="979714" y="2316480"/>
          <a:ext cx="798648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7887">
                  <a:extLst>
                    <a:ext uri="{9D8B030D-6E8A-4147-A177-3AD203B41FA5}">
                      <a16:colId xmlns:a16="http://schemas.microsoft.com/office/drawing/2014/main" val="398153442"/>
                    </a:ext>
                  </a:extLst>
                </a:gridCol>
                <a:gridCol w="3998598">
                  <a:extLst>
                    <a:ext uri="{9D8B030D-6E8A-4147-A177-3AD203B41FA5}">
                      <a16:colId xmlns:a16="http://schemas.microsoft.com/office/drawing/2014/main" val="308416205"/>
                    </a:ext>
                  </a:extLst>
                </a:gridCol>
              </a:tblGrid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118643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risk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575987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32 581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74295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27949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Loan_status</a:t>
                      </a:r>
                      <a:endParaRPr lang="en-ZA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086416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56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79636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00445A8-8E6B-272B-82A5-E827F5E35390}"/>
              </a:ext>
            </a:extLst>
          </p:cNvPr>
          <p:cNvSpPr txBox="1"/>
          <p:nvPr/>
        </p:nvSpPr>
        <p:spPr>
          <a:xfrm>
            <a:off x="838200" y="4606789"/>
            <a:ext cx="78050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</a:t>
            </a:r>
          </a:p>
          <a:p>
            <a:pPr marL="285750" indent="-285750">
              <a:buFontTx/>
              <a:buChar char="-"/>
            </a:pPr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details: age, salary and duration of employment</a:t>
            </a:r>
          </a:p>
          <a:p>
            <a:pPr marL="285750" indent="-285750">
              <a:buFontTx/>
              <a:buChar char="-"/>
            </a:pPr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 of a home and intent to borrow</a:t>
            </a:r>
          </a:p>
          <a:p>
            <a:pPr marL="285750" indent="-285750">
              <a:buFontTx/>
              <a:buChar char="-"/>
            </a:pPr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classification, loan value and interest percentage</a:t>
            </a:r>
          </a:p>
          <a:p>
            <a:pPr marL="285750" indent="-285750">
              <a:buFontTx/>
              <a:buChar char="-"/>
            </a:pPr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standard history</a:t>
            </a:r>
          </a:p>
          <a:p>
            <a:pPr marL="285750" indent="-285750">
              <a:buFontTx/>
              <a:buChar char="-"/>
            </a:pPr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credit history </a:t>
            </a:r>
          </a:p>
          <a:p>
            <a:pPr marL="285750" indent="-285750">
              <a:buFontTx/>
              <a:buChar char="-"/>
            </a:pPr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brief remark </a:t>
            </a:r>
          </a:p>
          <a:p>
            <a:endParaRPr lang="en-Z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 includes numerical and categorical variables, necessitating preprocessing prior to the application of machine learning models . </a:t>
            </a:r>
          </a:p>
        </p:txBody>
      </p:sp>
    </p:spTree>
    <p:extLst>
      <p:ext uri="{BB962C8B-B14F-4D97-AF65-F5344CB8AC3E}">
        <p14:creationId xmlns:p14="http://schemas.microsoft.com/office/powerpoint/2010/main" val="61475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A8F891-A962-316D-F37A-CF858913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ZA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issues identified 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F0120-18B9-8364-FB61-E5B261AA7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700" b="1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person_emp_length: 895 missing values (2.75%)</a:t>
            </a: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loan_int_rate: 3,116 missing values (9.56%)</a:t>
            </a:r>
          </a:p>
          <a:p>
            <a:pPr marL="0" indent="0">
              <a:buNone/>
            </a:pPr>
            <a:endParaRPr 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00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IMBALANCE</a:t>
            </a:r>
            <a:endParaRPr 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Class 0: 25,473 observations (78.18%)</a:t>
            </a: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Class 1: 7,108 observations (21.82%)</a:t>
            </a:r>
          </a:p>
          <a:p>
            <a:pPr marL="0" indent="0">
              <a:buNone/>
            </a:pPr>
            <a:endParaRPr 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00" b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 OUTLIERS</a:t>
            </a: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Boxplots identified potential unusual numerical observations.</a:t>
            </a: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IQR-based clipping was used during preprocessing.</a:t>
            </a:r>
          </a:p>
          <a:p>
            <a:pPr marL="0" indent="0">
              <a:buNone/>
            </a:pPr>
            <a:endParaRPr 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00" b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</a:t>
            </a: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Several features contained categorical information.</a:t>
            </a:r>
          </a:p>
          <a:p>
            <a:r>
              <a:rPr lang="en-US" sz="700">
                <a:latin typeface="Times New Roman" panose="02020603050405020304" pitchFamily="18" charset="0"/>
                <a:cs typeface="Times New Roman" panose="02020603050405020304" pitchFamily="18" charset="0"/>
              </a:rPr>
              <a:t>• One-hot encoding was applied before model training.</a:t>
            </a:r>
            <a:endParaRPr lang="en-ZA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Bitcoin">
            <a:extLst>
              <a:ext uri="{FF2B5EF4-FFF2-40B4-BE49-F238E27FC236}">
                <a16:creationId xmlns:a16="http://schemas.microsoft.com/office/drawing/2014/main" id="{9357D939-B049-91D1-FF24-010AB9DAE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6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A257-3933-5DDF-5E50-C66E6D3B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00F64A-9359-C8BE-C12E-AF62C7F889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812750"/>
              </p:ext>
            </p:extLst>
          </p:nvPr>
        </p:nvGraphicFramePr>
        <p:xfrm>
          <a:off x="655320" y="1460500"/>
          <a:ext cx="1153668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472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E1A8B-D52E-11C9-2988-ED99392E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Principal component analysis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E05E-AA64-4D48-1AEA-03F7B3587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200" b="1"/>
              <a:t>Purpose of PCA</a:t>
            </a:r>
          </a:p>
          <a:p>
            <a:r>
              <a:rPr lang="en-US" sz="1200"/>
              <a:t>PCA was employed to decrease the dimensionality  of the processed dataset while preserving the majority of the information from the original features </a:t>
            </a:r>
          </a:p>
          <a:p>
            <a:endParaRPr lang="en-US" sz="1200" b="1"/>
          </a:p>
          <a:p>
            <a:pPr marL="0"/>
            <a:r>
              <a:rPr lang="en-US" sz="1200" b="1"/>
              <a:t>PCA outcome</a:t>
            </a:r>
          </a:p>
          <a:p>
            <a:r>
              <a:rPr lang="en-US" sz="1200"/>
              <a:t>14 principal components </a:t>
            </a:r>
          </a:p>
          <a:p>
            <a:r>
              <a:rPr lang="en-US" sz="1200"/>
              <a:t>95.9935% variance retained </a:t>
            </a:r>
          </a:p>
          <a:p>
            <a:endParaRPr lang="en-US" sz="1200"/>
          </a:p>
          <a:p>
            <a:pPr marL="0"/>
            <a:r>
              <a:rPr lang="en-US" sz="1200" b="1"/>
              <a:t>Crucial discovery</a:t>
            </a:r>
          </a:p>
          <a:p>
            <a:pPr marL="0"/>
            <a:r>
              <a:rPr lang="en-US" sz="1200" b="1"/>
              <a:t> - </a:t>
            </a:r>
            <a:r>
              <a:rPr lang="en-US" sz="1200"/>
              <a:t>Despite PCA maintaining around 95.99% of the variance, the classification effectiveness dimished for all three models post PCA</a:t>
            </a:r>
          </a:p>
          <a:p>
            <a:pPr marL="0"/>
            <a:endParaRPr lang="en-US" sz="12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F56994-32E0-89AA-AF80-62629B930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798133"/>
            <a:ext cx="5458968" cy="326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7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9B578E-9856-F1DB-1FBE-C0DA757C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before PCA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7EBB6-F1F9-B82B-49AA-7D59A449CE24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model : decision tree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obtained the best F1 score (75.67%) and the highest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(77.64%)  prior to PCA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is crucial in credit risk classification, as not recognizing 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risky applicant can lead to financial losses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15E600-E478-8DBC-3963-987AB3E3C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06" y="2729397"/>
            <a:ext cx="4098663" cy="3483864"/>
          </a:xfrm>
          <a:prstGeom prst="rect">
            <a:avLst/>
          </a:prstGeom>
        </p:spPr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53160D7-60A9-6C10-428A-3FDF2F7A9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227190"/>
              </p:ext>
            </p:extLst>
          </p:nvPr>
        </p:nvGraphicFramePr>
        <p:xfrm>
          <a:off x="6198781" y="3333930"/>
          <a:ext cx="5523085" cy="2274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38834">
                  <a:extLst>
                    <a:ext uri="{9D8B030D-6E8A-4147-A177-3AD203B41FA5}">
                      <a16:colId xmlns:a16="http://schemas.microsoft.com/office/drawing/2014/main" val="4082682666"/>
                    </a:ext>
                  </a:extLst>
                </a:gridCol>
                <a:gridCol w="1161629">
                  <a:extLst>
                    <a:ext uri="{9D8B030D-6E8A-4147-A177-3AD203B41FA5}">
                      <a16:colId xmlns:a16="http://schemas.microsoft.com/office/drawing/2014/main" val="1832575642"/>
                    </a:ext>
                  </a:extLst>
                </a:gridCol>
                <a:gridCol w="1084425">
                  <a:extLst>
                    <a:ext uri="{9D8B030D-6E8A-4147-A177-3AD203B41FA5}">
                      <a16:colId xmlns:a16="http://schemas.microsoft.com/office/drawing/2014/main" val="4142653772"/>
                    </a:ext>
                  </a:extLst>
                </a:gridCol>
                <a:gridCol w="947833">
                  <a:extLst>
                    <a:ext uri="{9D8B030D-6E8A-4147-A177-3AD203B41FA5}">
                      <a16:colId xmlns:a16="http://schemas.microsoft.com/office/drawing/2014/main" val="3700627583"/>
                    </a:ext>
                  </a:extLst>
                </a:gridCol>
                <a:gridCol w="1090364">
                  <a:extLst>
                    <a:ext uri="{9D8B030D-6E8A-4147-A177-3AD203B41FA5}">
                      <a16:colId xmlns:a16="http://schemas.microsoft.com/office/drawing/2014/main" val="920921692"/>
                    </a:ext>
                  </a:extLst>
                </a:gridCol>
              </a:tblGrid>
              <a:tr h="376283"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 score</a:t>
                      </a:r>
                    </a:p>
                  </a:txBody>
                  <a:tcPr marL="85519" marR="85519" marT="42759" marB="42759"/>
                </a:tc>
                <a:extLst>
                  <a:ext uri="{0D108BD9-81ED-4DB2-BD59-A6C34878D82A}">
                    <a16:rowId xmlns:a16="http://schemas.microsoft.com/office/drawing/2014/main" val="2327484518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regression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86.97%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76.75%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57.97%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66.05%</a:t>
                      </a:r>
                    </a:p>
                  </a:txBody>
                  <a:tcPr marL="85519" marR="85519" marT="42759" marB="42759"/>
                </a:tc>
                <a:extLst>
                  <a:ext uri="{0D108BD9-81ED-4DB2-BD59-A6C34878D82A}">
                    <a16:rowId xmlns:a16="http://schemas.microsoft.com/office/drawing/2014/main" val="614329637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neighbours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88.93%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83.52%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61.50%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70.84%</a:t>
                      </a:r>
                    </a:p>
                  </a:txBody>
                  <a:tcPr marL="85519" marR="85519" marT="42759" marB="42759"/>
                </a:tc>
                <a:extLst>
                  <a:ext uri="{0D108BD9-81ED-4DB2-BD59-A6C34878D82A}">
                    <a16:rowId xmlns:a16="http://schemas.microsoft.com/office/drawing/2014/main" val="3926889264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89.08%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73.79%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77.64%</a:t>
                      </a:r>
                    </a:p>
                  </a:txBody>
                  <a:tcPr marL="85519" marR="85519" marT="42759" marB="42759"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75.67%</a:t>
                      </a:r>
                    </a:p>
                  </a:txBody>
                  <a:tcPr marL="85519" marR="85519" marT="42759" marB="42759"/>
                </a:tc>
                <a:extLst>
                  <a:ext uri="{0D108BD9-81ED-4DB2-BD59-A6C34878D82A}">
                    <a16:rowId xmlns:a16="http://schemas.microsoft.com/office/drawing/2014/main" val="570503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45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5D360-F32B-A99C-8127-CD0FBD45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en-Z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after PCA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7513A-E10F-2715-A522-5F26749A2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5641427" cy="41055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after PCA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especially beneficial because it displays both before PCA and after PCA, enabling the performance variation to be observed directly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F6C9E-C355-0B44-5D4C-57B70C78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7" t="2851" r="5158" b="7500"/>
          <a:stretch>
            <a:fillRect/>
          </a:stretch>
        </p:blipFill>
        <p:spPr>
          <a:xfrm>
            <a:off x="561645" y="2763794"/>
            <a:ext cx="5293823" cy="272260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A92949-01ED-2508-0A76-EA367058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052863"/>
              </p:ext>
            </p:extLst>
          </p:nvPr>
        </p:nvGraphicFramePr>
        <p:xfrm>
          <a:off x="6972299" y="1754679"/>
          <a:ext cx="4658056" cy="1772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6897">
                  <a:extLst>
                    <a:ext uri="{9D8B030D-6E8A-4147-A177-3AD203B41FA5}">
                      <a16:colId xmlns:a16="http://schemas.microsoft.com/office/drawing/2014/main" val="3138109915"/>
                    </a:ext>
                  </a:extLst>
                </a:gridCol>
                <a:gridCol w="927855">
                  <a:extLst>
                    <a:ext uri="{9D8B030D-6E8A-4147-A177-3AD203B41FA5}">
                      <a16:colId xmlns:a16="http://schemas.microsoft.com/office/drawing/2014/main" val="4032476051"/>
                    </a:ext>
                  </a:extLst>
                </a:gridCol>
                <a:gridCol w="927855">
                  <a:extLst>
                    <a:ext uri="{9D8B030D-6E8A-4147-A177-3AD203B41FA5}">
                      <a16:colId xmlns:a16="http://schemas.microsoft.com/office/drawing/2014/main" val="4071337353"/>
                    </a:ext>
                  </a:extLst>
                </a:gridCol>
                <a:gridCol w="805768">
                  <a:extLst>
                    <a:ext uri="{9D8B030D-6E8A-4147-A177-3AD203B41FA5}">
                      <a16:colId xmlns:a16="http://schemas.microsoft.com/office/drawing/2014/main" val="1690501751"/>
                    </a:ext>
                  </a:extLst>
                </a:gridCol>
                <a:gridCol w="899681">
                  <a:extLst>
                    <a:ext uri="{9D8B030D-6E8A-4147-A177-3AD203B41FA5}">
                      <a16:colId xmlns:a16="http://schemas.microsoft.com/office/drawing/2014/main" val="537984438"/>
                    </a:ext>
                  </a:extLst>
                </a:gridCol>
              </a:tblGrid>
              <a:tr h="27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/>
                        <a:t>Model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 dirty="0"/>
                        <a:t>Accuracy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Precision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Recall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F1-score</a:t>
                      </a:r>
                    </a:p>
                  </a:txBody>
                  <a:tcPr marL="69835" marR="69835" marT="34918" marB="34918" anchor="ctr"/>
                </a:tc>
                <a:extLst>
                  <a:ext uri="{0D108BD9-81ED-4DB2-BD59-A6C34878D82A}">
                    <a16:rowId xmlns:a16="http://schemas.microsoft.com/office/drawing/2014/main" val="4109246690"/>
                  </a:ext>
                </a:extLst>
              </a:tr>
              <a:tr h="46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/>
                        <a:t>Logistic Regression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85.86%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76.18%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51.41%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61.39%</a:t>
                      </a:r>
                    </a:p>
                  </a:txBody>
                  <a:tcPr marL="69835" marR="69835" marT="34918" marB="34918" anchor="ctr"/>
                </a:tc>
                <a:extLst>
                  <a:ext uri="{0D108BD9-81ED-4DB2-BD59-A6C34878D82A}">
                    <a16:rowId xmlns:a16="http://schemas.microsoft.com/office/drawing/2014/main" val="2029744072"/>
                  </a:ext>
                </a:extLst>
              </a:tr>
              <a:tr h="46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dirty="0"/>
                        <a:t>k-Nearest Neighbours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88.49%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81.88%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60.86%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69.82%</a:t>
                      </a:r>
                    </a:p>
                  </a:txBody>
                  <a:tcPr marL="69835" marR="69835" marT="34918" marB="34918" anchor="ctr"/>
                </a:tc>
                <a:extLst>
                  <a:ext uri="{0D108BD9-81ED-4DB2-BD59-A6C34878D82A}">
                    <a16:rowId xmlns:a16="http://schemas.microsoft.com/office/drawing/2014/main" val="4144793953"/>
                  </a:ext>
                </a:extLst>
              </a:tr>
              <a:tr h="46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/>
                        <a:t>Decision Tree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83.82%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62.47%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/>
                        <a:t>65.16%</a:t>
                      </a:r>
                    </a:p>
                  </a:txBody>
                  <a:tcPr marL="69835" marR="69835" marT="34918" marB="3491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400" dirty="0"/>
                        <a:t>63.79%</a:t>
                      </a:r>
                    </a:p>
                  </a:txBody>
                  <a:tcPr marL="69835" marR="69835" marT="34918" marB="34918" anchor="ctr"/>
                </a:tc>
                <a:extLst>
                  <a:ext uri="{0D108BD9-81ED-4DB2-BD59-A6C34878D82A}">
                    <a16:rowId xmlns:a16="http://schemas.microsoft.com/office/drawing/2014/main" val="41993135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BB3FEC-8C59-19D5-D503-087ED3377A81}"/>
              </a:ext>
            </a:extLst>
          </p:cNvPr>
          <p:cNvSpPr txBox="1"/>
          <p:nvPr/>
        </p:nvSpPr>
        <p:spPr>
          <a:xfrm>
            <a:off x="6972299" y="3886201"/>
            <a:ext cx="4876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diminished the classification effectiveness of all three models in relation to their originally processed features.</a:t>
            </a:r>
          </a:p>
          <a:p>
            <a:endParaRPr lang="en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14 main captured about 95.99% of the variance , the initial processed features delivered superior classification results.</a:t>
            </a:r>
          </a:p>
        </p:txBody>
      </p:sp>
    </p:spTree>
    <p:extLst>
      <p:ext uri="{BB962C8B-B14F-4D97-AF65-F5344CB8AC3E}">
        <p14:creationId xmlns:p14="http://schemas.microsoft.com/office/powerpoint/2010/main" val="4203309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4A9A-3E31-D163-BCA8-DDCDB5C7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7B60-9E83-0E4F-EEA3-7B3659D5C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577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Optimisation</a:t>
            </a:r>
          </a:p>
          <a:p>
            <a:pPr marL="0" indent="0">
              <a:buNone/>
            </a:pPr>
            <a:endParaRPr lang="en-Z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Process</a:t>
            </a:r>
          </a:p>
          <a:p>
            <a:pPr marL="0" indent="0">
              <a:buNone/>
            </a:pPr>
            <a:r>
              <a:rPr lang="en-Z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5-fold cross validation was used to optimise the decision tree model</a:t>
            </a:r>
          </a:p>
          <a:p>
            <a:pPr marL="0" indent="0">
              <a:buNone/>
            </a:pPr>
            <a:endParaRPr lang="en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Investigative procedure</a:t>
            </a:r>
          </a:p>
          <a:p>
            <a:pPr>
              <a:buFontTx/>
              <a:buChar char="-"/>
            </a:pPr>
            <a:r>
              <a:rPr lang="en-Z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 combinations of parameters evaluated </a:t>
            </a:r>
          </a:p>
          <a:p>
            <a:pPr>
              <a:buFontTx/>
              <a:buChar char="-"/>
            </a:pPr>
            <a:r>
              <a:rPr lang="en-Z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540 total model fits</a:t>
            </a:r>
          </a:p>
          <a:p>
            <a:pPr>
              <a:buFontTx/>
              <a:buChar char="-"/>
            </a:pPr>
            <a:r>
              <a:rPr lang="en-Z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metric: F1-score</a:t>
            </a:r>
          </a:p>
          <a:p>
            <a:pPr>
              <a:buFontTx/>
              <a:buChar char="-"/>
            </a:pPr>
            <a:r>
              <a:rPr lang="en-Z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validation: 5 fold</a:t>
            </a:r>
          </a:p>
          <a:p>
            <a:pPr marL="0" indent="0">
              <a:buNone/>
            </a:pPr>
            <a:endParaRPr lang="en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33BC2-EE11-4ABF-01E6-335E99BC0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28777"/>
            <a:ext cx="5181600" cy="1800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</a:t>
            </a:r>
          </a:p>
          <a:p>
            <a:pPr>
              <a:buFontTx/>
              <a:buChar char="-"/>
            </a:pPr>
            <a:r>
              <a:rPr lang="en-ZA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criterion: entropy</a:t>
            </a:r>
          </a:p>
          <a:p>
            <a:pPr>
              <a:buFontTx/>
              <a:buChar char="-"/>
            </a:pPr>
            <a:r>
              <a:rPr lang="en-ZA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depth: 10</a:t>
            </a:r>
          </a:p>
          <a:p>
            <a:pPr>
              <a:buFontTx/>
              <a:buChar char="-"/>
            </a:pPr>
            <a:r>
              <a:rPr lang="en-ZA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samples leaf: 2</a:t>
            </a:r>
          </a:p>
          <a:p>
            <a:pPr marL="0" indent="0">
              <a:buNone/>
            </a:pPr>
            <a:endParaRPr lang="en-Z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878A30-1144-39D7-EDF1-830B99CF6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647" y="2762250"/>
            <a:ext cx="6430602" cy="377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6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808AA5-0755-135C-ED12-2262B412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business insights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FAB38-8709-3255-2E2E-92DE4C3CC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5079711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conclusion</a:t>
            </a:r>
          </a:p>
          <a:p>
            <a:pPr marL="0" indent="0">
              <a:buNone/>
            </a:pPr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credit risk prediction system was successfully created using logistic regression, k-nearest neighbours and decision tree classification models.</a:t>
            </a:r>
          </a:p>
          <a:p>
            <a:pPr marL="0" indent="0">
              <a:buNone/>
            </a:pPr>
            <a:endParaRPr lang="en-Z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Main findings </a:t>
            </a:r>
          </a:p>
          <a:p>
            <a:pPr>
              <a:buFontTx/>
              <a:buChar char="-"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comprised 32,581 entries and 12 variables</a:t>
            </a:r>
          </a:p>
          <a:p>
            <a:pPr>
              <a:buFontTx/>
              <a:buChar char="-"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preserved 95.99% of the variance with 14 components</a:t>
            </a:r>
          </a:p>
          <a:p>
            <a:pPr>
              <a:buFontTx/>
              <a:buChar char="-"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that were processed originally outperformed those that were transformed using PCA</a:t>
            </a:r>
          </a:p>
          <a:p>
            <a:pPr>
              <a:buFontTx/>
              <a:buChar char="-"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decision tree reached an F1 score of 75.67%</a:t>
            </a:r>
          </a:p>
          <a:p>
            <a:pPr>
              <a:buFontTx/>
              <a:buChar char="-"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optimization enhanced the decision tree, achieving a final test F1 score of 81.91% and an accuracy of 93.12%</a:t>
            </a:r>
          </a:p>
          <a:p>
            <a:pPr marL="0" indent="0">
              <a:buNone/>
            </a:pPr>
            <a:endParaRPr lang="en-Z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Business insight </a:t>
            </a:r>
          </a:p>
          <a:p>
            <a:pPr marL="0" indent="0">
              <a:buNone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credit risk system needs to account for factors beyond just accuracy. False negatives a crucial since misclassifying a high risk applicant as low risk might put a financial institution at risk of incurring losses </a:t>
            </a:r>
          </a:p>
          <a:p>
            <a:pPr marL="0" indent="0">
              <a:buNone/>
            </a:pPr>
            <a:endParaRPr lang="en-Z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experiment the optimized decision tree demonstrated the best predictive performance and is consequently chosen as the final model</a:t>
            </a:r>
          </a:p>
          <a:p>
            <a:pPr marL="0" indent="0">
              <a:buNone/>
            </a:pPr>
            <a:endParaRPr lang="en-Z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ZA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Model: Tuned Decision Tree | Accuracy: 93.12% | F1-score: 81.91% </a:t>
            </a:r>
          </a:p>
          <a:p>
            <a:pPr marL="0" indent="0">
              <a:buNone/>
            </a:pPr>
            <a:endParaRPr lang="en-Z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885</Words>
  <Application>Microsoft Office PowerPoint</Application>
  <PresentationFormat>Widescreen</PresentationFormat>
  <Paragraphs>182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Credit risk prediction system</vt:lpstr>
      <vt:lpstr>Problem statement</vt:lpstr>
      <vt:lpstr>Dataset overview</vt:lpstr>
      <vt:lpstr>Data issues identified </vt:lpstr>
      <vt:lpstr>Data Preprocessing  </vt:lpstr>
      <vt:lpstr>Principal component analysis</vt:lpstr>
      <vt:lpstr>Model performance before PCA</vt:lpstr>
      <vt:lpstr>Model performance after PCA </vt:lpstr>
      <vt:lpstr>Hyperparameter optimisation</vt:lpstr>
      <vt:lpstr>Conclusion and business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Katlego Sambo</dc:creator>
  <cp:lastModifiedBy>Katlego Sambo</cp:lastModifiedBy>
  <cp:revision>1</cp:revision>
  <dcterms:created xsi:type="dcterms:W3CDTF">2026-09-03T12:50:01Z</dcterms:created>
  <dcterms:modified xsi:type="dcterms:W3CDTF">2026-09-03T19:45:56Z</dcterms:modified>
</cp:coreProperties>
</file>